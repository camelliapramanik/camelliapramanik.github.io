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d8990078e14428" /><Relationship Type="http://schemas.openxmlformats.org/officeDocument/2006/relationships/extended-properties" Target="/docProps/app.xml" Id="R8d66b4fa84984309" /><Relationship Type="http://schemas.openxmlformats.org/officeDocument/2006/relationships/officeDocument" Target="/ppt/presentation.xml" Id="Rc913ecca5d2d40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744b7c7c494118"/>
  </p:sldMasterIdLst>
  <p:notesMasterIdLst>
    <p:notesMasterId xmlns:r="http://schemas.openxmlformats.org/officeDocument/2006/relationships" r:id="R9f22024efb0e4368"/>
  </p:notesMasterIdLst>
  <p:sldIdLst>
    <p:sldId xmlns:r="http://schemas.openxmlformats.org/officeDocument/2006/relationships" id="256" r:id="R6200e64d69f8477e"/>
    <p:sldId xmlns:r="http://schemas.openxmlformats.org/officeDocument/2006/relationships" id="257" r:id="R5a617382a4bc48da"/>
    <p:sldId xmlns:r="http://schemas.openxmlformats.org/officeDocument/2006/relationships" id="258" r:id="Rf7b0f87199814a3c"/>
    <p:sldId xmlns:r="http://schemas.openxmlformats.org/officeDocument/2006/relationships" id="259" r:id="R0b006a71952f4e30"/>
    <p:sldId xmlns:r="http://schemas.openxmlformats.org/officeDocument/2006/relationships" id="260" r:id="R70e342debf6c4a8a"/>
    <p:sldId xmlns:r="http://schemas.openxmlformats.org/officeDocument/2006/relationships" id="261" r:id="Rd831bb0c95d9472e"/>
    <p:sldId xmlns:r="http://schemas.openxmlformats.org/officeDocument/2006/relationships" id="262" r:id="R93d38af8954843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a975afcd3f43b7" /><Relationship Type="http://schemas.openxmlformats.org/officeDocument/2006/relationships/slideMaster" Target="/ppt/slideMasters/slideMaster1.xml" Id="Rd3744b7c7c494118" /><Relationship Type="http://schemas.openxmlformats.org/officeDocument/2006/relationships/notesMaster" Target="/ppt/notesMasters/notesMaster1.xml" Id="R9f22024efb0e4368" /><Relationship Type="http://schemas.openxmlformats.org/officeDocument/2006/relationships/presProps" Target="/ppt/presProps.xml" Id="R94fdc52cea70463d" /><Relationship Type="http://schemas.openxmlformats.org/officeDocument/2006/relationships/tableStyles" Target="/ppt/tableStyles.xml" Id="Rc0c3e907238145b5" /><Relationship Type="http://schemas.openxmlformats.org/officeDocument/2006/relationships/slide" Target="/ppt/slides/slide1.xml" Id="R6200e64d69f8477e" /><Relationship Type="http://schemas.openxmlformats.org/officeDocument/2006/relationships/slide" Target="/ppt/slides/slide2.xml" Id="R5a617382a4bc48da" /><Relationship Type="http://schemas.openxmlformats.org/officeDocument/2006/relationships/slide" Target="/ppt/slides/slide3.xml" Id="Rf7b0f87199814a3c" /><Relationship Type="http://schemas.openxmlformats.org/officeDocument/2006/relationships/slide" Target="/ppt/slides/slide4.xml" Id="R0b006a71952f4e30" /><Relationship Type="http://schemas.openxmlformats.org/officeDocument/2006/relationships/slide" Target="/ppt/slides/slide5.xml" Id="R70e342debf6c4a8a" /><Relationship Type="http://schemas.openxmlformats.org/officeDocument/2006/relationships/slide" Target="/ppt/slides/slide6.xml" Id="Rd831bb0c95d9472e" /><Relationship Type="http://schemas.openxmlformats.org/officeDocument/2006/relationships/slide" Target="/ppt/slides/slide7.xml" Id="R93d38af8954843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142ee564cf47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4946f17e5d441b" /><Relationship Type="http://schemas.openxmlformats.org/officeDocument/2006/relationships/notesMaster" Target="/ppt/notesMasters/notesMaster1.xml" Id="R3460687fa36946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113b2c027a436c" /><Relationship Type="http://schemas.openxmlformats.org/officeDocument/2006/relationships/notesMaster" Target="/ppt/notesMasters/notesMaster1.xml" Id="R638db434be7648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cea9c918db43c6" /><Relationship Type="http://schemas.openxmlformats.org/officeDocument/2006/relationships/notesMaster" Target="/ppt/notesMasters/notesMaster1.xml" Id="Rf9163c46978840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530d51f4a44c6e" /><Relationship Type="http://schemas.openxmlformats.org/officeDocument/2006/relationships/notesMaster" Target="/ppt/notesMasters/notesMaster1.xml" Id="R5ee4eae4c9de4d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b2b96a07d94414" /><Relationship Type="http://schemas.openxmlformats.org/officeDocument/2006/relationships/notesMaster" Target="/ppt/notesMasters/notesMaster1.xml" Id="R7f9b12ed974549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b8e7a9977e40c2" /><Relationship Type="http://schemas.openxmlformats.org/officeDocument/2006/relationships/notesMaster" Target="/ppt/notesMasters/notesMaster1.xml" Id="R62ee0a456ce744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3c7aa24f934c78" /><Relationship Type="http://schemas.openxmlformats.org/officeDocument/2006/relationships/notesMaster" Target="/ppt/notesMasters/notesMaster1.xml" Id="Rb775d74c8d3e46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Food Redistribution Database Design Project.pdf, University of Detroit Mercy, December 4, 2024. User confirmed contributions in both database design and testing on October 15,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Food Redistribution Database Design Project.pdf, University of Detroit Mercy, December 4, 2024. User confirmed contributions in both database design and testing on October 15, 2026.</a:t>
            </a:r>
          </a:p>
          <a:p xmlns:a="http://schemas.openxmlformats.org/drawingml/2006/main">
            <a:r>
              <a:t>Report pp. 5, 11–16. Team project scope, not a measured community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Food Redistribution Database Design Project.pdf, University of Detroit Mercy, December 4, 2024. User confirmed contributions in both database design and testing on October 15, 2026.</a:t>
            </a:r>
          </a:p>
          <a:p xmlns:a="http://schemas.openxmlformats.org/drawingml/2006/main">
            <a:r>
              <a:t>Original EER diagram from report p. 32. Image preserved from supplied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Food Redistribution Database Design Project.pdf, University of Detroit Mercy, December 4, 2024. User confirmed contributions in both database design and testing on October 15, 2026.</a:t>
            </a:r>
          </a:p>
          <a:p xmlns:a="http://schemas.openxmlformats.org/drawingml/2006/main">
            <a:r>
              <a:t>Original project screenshot, report p. 50. Academic sample records. No operational impact is inferred from the displayed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Food Redistribution Database Design Project.pdf, University of Detroit Mercy, December 4, 2024. User confirmed contributions in both database design and testing on October 15, 2026.</a:t>
            </a:r>
          </a:p>
          <a:p xmlns:a="http://schemas.openxmlformats.org/drawingml/2006/main">
            <a:r>
              <a:t>Original table-count evidence from report p. 51. Testing contribution confirmed by user and LinkedIn project description. Counts are prototype sample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Food Redistribution Database Design Project.pdf, University of Detroit Mercy, December 4, 2024. User confirmed contributions in both database design and testing on October 15, 2026.</a:t>
            </a:r>
          </a:p>
          <a:p xmlns:a="http://schemas.openxmlformats.org/drawingml/2006/main">
            <a:r>
              <a:t>Report pp. 37–39 describes reporting requirements. These are supported reporting use cases, not evidence of deployed operational dashboards.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Food Redistribution Database Design Project.pdf, University of Detroit Mercy, December 4, 2024. User confirmed contributions in both database design and testing on October 15, 2026.</a:t>
            </a:r>
          </a:p>
          <a:p xmlns:a="http://schemas.openxmlformats.org/drawingml/2006/main">
            <a:r>
              <a:t>Future improvements are recommendations, not claims of completed implementation. Report schema uses VARCHAR quantities. No food-waste reduction or production performance metric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65a5f05db4b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a600e873b4e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0a1c5af3044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56327739542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22fe6dacae41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66b64d432d46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10ECCD-E113-4711-8E90-8D486EF448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5E5E35-C920-442B-9B08-1B60E60FFD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4A14DC-C589-45FD-995F-3922A22BFC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C92288-85A6-432C-A888-17F8FCDC84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F4481E-44F5-4D62-A7DB-C9BB91501E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9196D2-5B45-4176-A458-BC0718B3A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A588DA-B969-4F9B-AD49-D0F9E3678A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4F42C1-B44E-45AD-9C7E-1ADA01446C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1B8E79-9FB8-47CA-90A7-37B19D5412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6A5A04-E6DF-4422-868F-D8385D40E0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5edc8341a542b4" /><Relationship Type="http://schemas.openxmlformats.org/officeDocument/2006/relationships/slideLayout" Target="/ppt/slideLayouts/slideLayout1.xml" Id="R77593f9a096f4401" /><Relationship Type="http://schemas.openxmlformats.org/officeDocument/2006/relationships/slideLayout" Target="/ppt/slideLayouts/slideLayout2.xml" Id="Rbd84baa0c1ea4554" /><Relationship Type="http://schemas.openxmlformats.org/officeDocument/2006/relationships/slideLayout" Target="/ppt/slideLayouts/slideLayout3.xml" Id="R2c7f203a5a884444" /><Relationship Type="http://schemas.openxmlformats.org/officeDocument/2006/relationships/slideLayout" Target="/ppt/slideLayouts/slideLayout4.xml" Id="Rba7d80159fe84309" /><Relationship Type="http://schemas.openxmlformats.org/officeDocument/2006/relationships/slideLayout" Target="/ppt/slideLayouts/slideLayout5.xml" Id="R4b2916174dc14be3" /><Relationship Type="http://schemas.openxmlformats.org/officeDocument/2006/relationships/slideLayout" Target="/ppt/slideLayouts/slideLayout6.xml" Id="R7216ced7bb5745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593f9a096f4401"/>
    <p:sldLayoutId xmlns:r="http://schemas.openxmlformats.org/officeDocument/2006/relationships" id="2147483650" r:id="Rbd84baa0c1ea4554"/>
    <p:sldLayoutId xmlns:r="http://schemas.openxmlformats.org/officeDocument/2006/relationships" id="2147483651" r:id="R2c7f203a5a884444"/>
    <p:sldLayoutId xmlns:r="http://schemas.openxmlformats.org/officeDocument/2006/relationships" id="2147483652" r:id="Rba7d80159fe84309"/>
    <p:sldLayoutId xmlns:r="http://schemas.openxmlformats.org/officeDocument/2006/relationships" id="2147483653" r:id="R4b2916174dc14be3"/>
    <p:sldLayoutId xmlns:r="http://schemas.openxmlformats.org/officeDocument/2006/relationships" id="2147483654" r:id="R7216ced7bb5745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b2cb0e01c44af7" /><Relationship Type="http://schemas.openxmlformats.org/officeDocument/2006/relationships/hyperlink" Target="https://camelliapramanik.github.io/" TargetMode="External" Id="Rff0d50ef2c9f436e" /><Relationship Type="http://schemas.openxmlformats.org/officeDocument/2006/relationships/notesSlide" Target="/ppt/notesSlides/notesSlide1.xml" Id="Red83f6a5a87343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3ac149c5d4734" /><Relationship Type="http://schemas.openxmlformats.org/officeDocument/2006/relationships/notesSlide" Target="/ppt/notesSlides/notesSlide2.xml" Id="Re895b20ea77744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da4ba002f427f" /><Relationship Type="http://schemas.openxmlformats.org/officeDocument/2006/relationships/image" Target="/ppt/media/image.png" Id="R77a4e71408464871" /><Relationship Type="http://schemas.openxmlformats.org/officeDocument/2006/relationships/notesSlide" Target="/ppt/notesSlides/notesSlide3.xml" Id="R44cbe0cea0174e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19d0557524e5d" /><Relationship Type="http://schemas.openxmlformats.org/officeDocument/2006/relationships/image" Target="/ppt/media/image.jpeg" Id="R1745975208dd4a59" /><Relationship Type="http://schemas.openxmlformats.org/officeDocument/2006/relationships/notesSlide" Target="/ppt/notesSlides/notesSlide4.xml" Id="R5bd2c87125f74c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d504e879440e4" /><Relationship Type="http://schemas.openxmlformats.org/officeDocument/2006/relationships/image" Target="/ppt/media/image2.jpeg" Id="Raead12a9188f4be1" /><Relationship Type="http://schemas.openxmlformats.org/officeDocument/2006/relationships/notesSlide" Target="/ppt/notesSlides/notesSlide5.xml" Id="R57ef4bedbfa846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df2d051764122" /><Relationship Type="http://schemas.openxmlformats.org/officeDocument/2006/relationships/notesSlide" Target="/ppt/notesSlides/notesSlide6.xml" Id="Rfe39380583174f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a3ee00646b41a2" /><Relationship Type="http://schemas.openxmlformats.org/officeDocument/2006/relationships/notesSlide" Target="/ppt/notesSlides/notesSlide7.xml" Id="R5bd0098d95734f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ATABASE CASE STUDY">
            <a:extLst xmlns:a="http://schemas.openxmlformats.org/drawingml/2006/main">
              <a:ext uri="{FF2B5EF4-FFF2-40B4-BE49-F238E27FC236}">
                <a16:creationId xmlns:a16="http://schemas.microsoft.com/office/drawing/2014/main" id="{0F0D3BE3-BDFB-49B2-BECF-A4EA6FC8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A9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9C4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C4D5"/>
                </a:solidFill>
                <a:latin typeface="Arial"/>
                <a:ea typeface="Arial"/>
                <a:cs typeface="Arial"/>
              </a:rPr>
              <a:t>DATABASE CASE STUDY</a:t>
            </a:r>
          </a:p>
        </p:txBody>
      </p:sp>
      <p:sp>
        <p:nvSpPr>
          <p:cNvPr id="2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DC061EBA-478A-449B-A309-DD7FBE71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BA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ACDD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CDDA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CED6C67D-A31C-42DA-A0E7-4FE40A9D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BA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ACDD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CDD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Food Redistribution&#10;Management Database">
            <a:extLst xmlns:a="http://schemas.openxmlformats.org/drawingml/2006/main">
              <a:ext uri="{FF2B5EF4-FFF2-40B4-BE49-F238E27FC236}">
                <a16:creationId xmlns:a16="http://schemas.microsoft.com/office/drawing/2014/main" id="{7A016C0E-7059-4970-8EDE-913A5125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Food Redistribution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Management Database</a:t>
            </a:r>
          </a:p>
        </p:txBody>
      </p:sp>
      <p:sp>
        <p:nvSpPr>
          <p:cNvPr id="5" name="Database design and testing in a 12-week team">
            <a:extLst xmlns:a="http://schemas.openxmlformats.org/drawingml/2006/main">
              <a:ext uri="{FF2B5EF4-FFF2-40B4-BE49-F238E27FC236}">
                <a16:creationId xmlns:a16="http://schemas.microsoft.com/office/drawing/2014/main" id="{AF317093-621D-4B5A-B2F4-C9617576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CD2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CD2D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CD2DF"/>
                </a:solidFill>
                <a:latin typeface="Arial"/>
                <a:ea typeface="Arial"/>
                <a:cs typeface="Arial"/>
              </a:rPr>
              <a:t>Database design and testing in a 12-week team project</a:t>
            </a:r>
          </a:p>
        </p:txBody>
      </p:sp>
      <p:sp>
        <p:nvSpPr>
          <p:cNvPr id="6" name="camelliapramanik.github.io">
            <a:extLst xmlns:a="http://schemas.openxmlformats.org/drawingml/2006/main">
              <a:ext uri="{FF2B5EF4-FFF2-40B4-BE49-F238E27FC236}">
                <a16:creationId xmlns:a16="http://schemas.microsoft.com/office/drawing/2014/main" id="{5A9F090E-A08E-47F5-A6A6-68E1382C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6E6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6E6F0"/>
                </a:solidFill>
                <a:latin typeface="Arial"/>
                <a:ea typeface="Arial"/>
                <a:cs typeface="Arial"/>
              </a:defRPr>
            </a:pPr>
            <a:r>
              <a:rPr sz="1725" u="sng">
                <a:solidFill>
                  <a:srgbClr val="D6E6F0"/>
                </a:solidFill>
                <a:latin typeface="Arial"/>
                <a:ea typeface="Arial"/>
                <a:cs typeface="Arial"/>
                <a:hlinkClick xmlns:r="http://schemas.openxmlformats.org/officeDocument/2006/relationships" r:id="Rff0d50ef2c9f436e"/>
              </a:rPr>
              <a:t>camelliapramanik.github.io</a:t>
            </a:r>
          </a:p>
        </p:txBody>
      </p:sp>
    </p:spTree>
    <p:extLst>
      <p:ext uri="{BB962C8B-B14F-4D97-AF65-F5344CB8AC3E}">
        <p14:creationId xmlns:p14="http://schemas.microsoft.com/office/powerpoint/2010/main" val="579063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ROBLEM AND CONTRIBUTION">
            <a:extLst xmlns:a="http://schemas.openxmlformats.org/drawingml/2006/main">
              <a:ext uri="{FF2B5EF4-FFF2-40B4-BE49-F238E27FC236}">
                <a16:creationId xmlns:a16="http://schemas.microsoft.com/office/drawing/2014/main" id="{E7D96502-9293-4F9A-AFF0-8AE72E3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PROBLEM AND CONTRIBUTION</a:t>
            </a:r>
          </a:p>
        </p:txBody>
      </p:sp>
      <p:sp>
        <p:nvSpPr>
          <p:cNvPr id="2" name="A database for coordinating surplus food">
            <a:extLst xmlns:a="http://schemas.openxmlformats.org/drawingml/2006/main">
              <a:ext uri="{FF2B5EF4-FFF2-40B4-BE49-F238E27FC236}">
                <a16:creationId xmlns:a16="http://schemas.microsoft.com/office/drawing/2014/main" id="{8AE19070-A4D8-4E52-A228-2B357045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A database for coordinating surplus food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68A4E6C8-4E62-41CE-91AF-6858D8A5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BB653550-E5BE-4F92-83DD-C0BAAF5C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he problem">
            <a:extLst xmlns:a="http://schemas.openxmlformats.org/drawingml/2006/main">
              <a:ext uri="{FF2B5EF4-FFF2-40B4-BE49-F238E27FC236}">
                <a16:creationId xmlns:a16="http://schemas.microsoft.com/office/drawing/2014/main" id="{961D14B8-9208-44F0-8336-F3369D30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6" name="Restaurants, pantries and nonprofits needed a">
            <a:extLst xmlns:a="http://schemas.openxmlformats.org/drawingml/2006/main">
              <a:ext uri="{FF2B5EF4-FFF2-40B4-BE49-F238E27FC236}">
                <a16:creationId xmlns:a16="http://schemas.microsoft.com/office/drawing/2014/main" id="{2CB48051-D1C0-47B6-9180-982BF637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Restaurants, pantries and nonprofits needed a shared record of available food, destinations and donation status.</a:t>
            </a:r>
          </a:p>
        </p:txBody>
      </p:sp>
      <p:sp>
        <p:nvSpPr>
          <p:cNvPr id="7" name="My contribution">
            <a:extLst xmlns:a="http://schemas.openxmlformats.org/drawingml/2006/main">
              <a:ext uri="{FF2B5EF4-FFF2-40B4-BE49-F238E27FC236}">
                <a16:creationId xmlns:a16="http://schemas.microsoft.com/office/drawing/2014/main" id="{727E578B-F81F-47FB-8B05-32BDB9AC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My contribution</a:t>
            </a:r>
          </a:p>
        </p:txBody>
      </p:sp>
      <p:sp>
        <p:nvSpPr>
          <p:cNvPr id="8" name="Contributed to relational database design and">
            <a:extLst xmlns:a="http://schemas.openxmlformats.org/drawingml/2006/main">
              <a:ext uri="{FF2B5EF4-FFF2-40B4-BE49-F238E27FC236}">
                <a16:creationId xmlns:a16="http://schemas.microsoft.com/office/drawing/2014/main" id="{6A02021D-1AED-4AA1-B5C5-A5C9D847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Contributed to relational database design and testing, with attention to data integrity and dependable information retrieval.</a:t>
            </a:r>
          </a:p>
        </p:txBody>
      </p:sp>
      <p:sp>
        <p:nvSpPr>
          <p:cNvPr id="9" name="The team solution">
            <a:extLst xmlns:a="http://schemas.openxmlformats.org/drawingml/2006/main">
              <a:ext uri="{FF2B5EF4-FFF2-40B4-BE49-F238E27FC236}">
                <a16:creationId xmlns:a16="http://schemas.microsoft.com/office/drawing/2014/main" id="{64506CA6-BA01-4439-A4FF-59814A7E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The team solution</a:t>
            </a:r>
          </a:p>
        </p:txBody>
      </p:sp>
      <p:sp>
        <p:nvSpPr>
          <p:cNvPr id="10" name="Linked users, restaurants, food items, pantri">
            <a:extLst xmlns:a="http://schemas.openxmlformats.org/drawingml/2006/main">
              <a:ext uri="{FF2B5EF4-FFF2-40B4-BE49-F238E27FC236}">
                <a16:creationId xmlns:a16="http://schemas.microsoft.com/office/drawing/2014/main" id="{B9D711AB-1367-44DD-B0C0-40554C32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Linked users, restaurants, food items, pantries, NGOs and donations in a MySQL database.</a:t>
            </a:r>
          </a:p>
        </p:txBody>
      </p:sp>
      <p:sp>
        <p:nvSpPr>
          <p:cNvPr id="11" name="Why it mattered">
            <a:extLst xmlns:a="http://schemas.openxmlformats.org/drawingml/2006/main">
              <a:ext uri="{FF2B5EF4-FFF2-40B4-BE49-F238E27FC236}">
                <a16:creationId xmlns:a16="http://schemas.microsoft.com/office/drawing/2014/main" id="{9AC31C29-5DC7-4223-AAE1-885A3540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Why it mattered</a:t>
            </a:r>
          </a:p>
        </p:txBody>
      </p:sp>
      <p:sp>
        <p:nvSpPr>
          <p:cNvPr id="12" name="Made the flow of a donation traceable within ">
            <a:extLst xmlns:a="http://schemas.openxmlformats.org/drawingml/2006/main">
              <a:ext uri="{FF2B5EF4-FFF2-40B4-BE49-F238E27FC236}">
                <a16:creationId xmlns:a16="http://schemas.microsoft.com/office/drawing/2014/main" id="{CC26B5C1-AB89-4110-AFE3-BA47E2AB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Made the flow of a donation traceable within the prototype, supporting inventory and donation reporting.</a:t>
            </a:r>
          </a:p>
        </p:txBody>
      </p:sp>
    </p:spTree>
    <p:extLst>
      <p:ext uri="{BB962C8B-B14F-4D97-AF65-F5344CB8AC3E}">
        <p14:creationId xmlns:p14="http://schemas.microsoft.com/office/powerpoint/2010/main" val="15907368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ATA MODEL">
            <a:extLst xmlns:a="http://schemas.openxmlformats.org/drawingml/2006/main">
              <a:ext uri="{FF2B5EF4-FFF2-40B4-BE49-F238E27FC236}">
                <a16:creationId xmlns:a16="http://schemas.microsoft.com/office/drawing/2014/main" id="{4D0A4BC4-92D0-4A6D-A7C1-40131406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DATA MODEL</a:t>
            </a:r>
          </a:p>
        </p:txBody>
      </p:sp>
      <p:sp>
        <p:nvSpPr>
          <p:cNvPr id="2" name="Six related entities connected the workflow">
            <a:extLst xmlns:a="http://schemas.openxmlformats.org/drawingml/2006/main">
              <a:ext uri="{FF2B5EF4-FFF2-40B4-BE49-F238E27FC236}">
                <a16:creationId xmlns:a16="http://schemas.microsoft.com/office/drawing/2014/main" id="{F020B3C9-4C55-4456-ADFC-93C0BF18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Six related entities connected the workflow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1FBB97BC-509A-40B8-B057-A33CE01B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2DF519D5-79B6-4D23-8D38-A7B0073E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CDA1F-7103-4FBA-951F-C7C374A71D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4e71408464871"/>
          <a:stretch xmlns:a="http://schemas.openxmlformats.org/drawingml/2006/main"/>
        </p:blipFill>
        <p:spPr>
          <a:xfrm xmlns:a="http://schemas.openxmlformats.org/drawingml/2006/main">
            <a:off x="6587421" y="1762125"/>
            <a:ext cx="3779658" cy="4362450"/>
          </a:xfrm>
          <a:prstGeom xmlns:a="http://schemas.openxmlformats.org/drawingml/2006/main" prst="rect">
            <a:avLst/>
          </a:prstGeom>
        </p:spPr>
      </p:pic>
      <p:sp>
        <p:nvSpPr>
          <p:cNvPr id="6" name="Restaurant to food item&#10;Food item to donation">
            <a:extLst xmlns:a="http://schemas.openxmlformats.org/drawingml/2006/main">
              <a:ext uri="{FF2B5EF4-FFF2-40B4-BE49-F238E27FC236}">
                <a16:creationId xmlns:a16="http://schemas.microsoft.com/office/drawing/2014/main" id="{902A6932-A54B-43CD-BA00-18445AC1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191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Restaurant to food item</a:t>
            </a:r>
          </a:p>
          <a:p xmlns:a="http://schemas.openxmlformats.org/drawingml/2006/main">
            <a:pPr>
              <a:defRPr sz="225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Food item to donation</a:t>
            </a:r>
          </a:p>
          <a:p xmlns:a="http://schemas.openxmlformats.org/drawingml/2006/main">
            <a:pPr>
              <a:defRPr sz="225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Donation to food pantry</a:t>
            </a:r>
          </a:p>
          <a:p xmlns:a="http://schemas.openxmlformats.org/drawingml/2006/main">
            <a:pPr>
              <a:defRPr sz="225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Food pantry to NGO</a:t>
            </a:r>
          </a:p>
        </p:txBody>
      </p:sp>
      <p:sp>
        <p:nvSpPr>
          <p:cNvPr id="7" name="Primary and foreign keys connected records ac">
            <a:extLst xmlns:a="http://schemas.openxmlformats.org/drawingml/2006/main">
              <a:ext uri="{FF2B5EF4-FFF2-40B4-BE49-F238E27FC236}">
                <a16:creationId xmlns:a16="http://schemas.microsoft.com/office/drawing/2014/main" id="{91066DB6-28F4-40FB-8130-5114BED5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4191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Primary and foreign keys connected records across the model. Normalization reduced repeated information.</a:t>
            </a:r>
          </a:p>
        </p:txBody>
      </p:sp>
    </p:spTree>
    <p:extLst>
      <p:ext uri="{BB962C8B-B14F-4D97-AF65-F5344CB8AC3E}">
        <p14:creationId xmlns:p14="http://schemas.microsoft.com/office/powerpoint/2010/main" val="2698933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IMPLEMENTATION EVIDENCE">
            <a:extLst xmlns:a="http://schemas.openxmlformats.org/drawingml/2006/main">
              <a:ext uri="{FF2B5EF4-FFF2-40B4-BE49-F238E27FC236}">
                <a16:creationId xmlns:a16="http://schemas.microsoft.com/office/drawing/2014/main" id="{F62093CD-CAAF-49C7-BB3C-548A0974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IMPLEMENTATION EVIDENCE</a:t>
            </a:r>
          </a:p>
        </p:txBody>
      </p:sp>
      <p:sp>
        <p:nvSpPr>
          <p:cNvPr id="2" name="SQL made donation records traceable">
            <a:extLst xmlns:a="http://schemas.openxmlformats.org/drawingml/2006/main">
              <a:ext uri="{FF2B5EF4-FFF2-40B4-BE49-F238E27FC236}">
                <a16:creationId xmlns:a16="http://schemas.microsoft.com/office/drawing/2014/main" id="{B4EB43D9-761C-4734-B2A1-403F84CC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SQL made donation records traceable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94B224AF-B867-4B02-86D5-B3F96CFC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002B5233-5AF1-40F3-BDF4-5FF726A1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CCEA1-D8B1-4DFD-86C9-66AE279F8B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5975208dd4a59"/>
          <a:stretch xmlns:a="http://schemas.openxmlformats.org/drawingml/2006/main"/>
        </p:blipFill>
        <p:spPr>
          <a:xfrm xmlns:a="http://schemas.openxmlformats.org/drawingml/2006/main">
            <a:off x="610001" y="2066925"/>
            <a:ext cx="7523949" cy="4181475"/>
          </a:xfrm>
          <a:prstGeom xmlns:a="http://schemas.openxmlformats.org/drawingml/2006/main" prst="rect">
            <a:avLst/>
          </a:prstGeom>
        </p:spPr>
      </p:pic>
      <p:sp>
        <p:nvSpPr>
          <p:cNvPr id="6" name="A connected view">
            <a:extLst xmlns:a="http://schemas.openxmlformats.org/drawingml/2006/main">
              <a:ext uri="{FF2B5EF4-FFF2-40B4-BE49-F238E27FC236}">
                <a16:creationId xmlns:a16="http://schemas.microsoft.com/office/drawing/2014/main" id="{973C9998-CCAE-4B20-A9E1-2F082940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145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A connected view</a:t>
            </a:r>
          </a:p>
        </p:txBody>
      </p:sp>
      <p:sp>
        <p:nvSpPr>
          <p:cNvPr id="7" name="The query connected the source restaurant, fo">
            <a:extLst xmlns:a="http://schemas.openxmlformats.org/drawingml/2006/main">
              <a:ext uri="{FF2B5EF4-FFF2-40B4-BE49-F238E27FC236}">
                <a16:creationId xmlns:a16="http://schemas.microsoft.com/office/drawing/2014/main" id="{AD5811DC-8828-4DC7-BFC1-8D790896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The query connected the source restaurant, food item, donated quantity, destination and status.</a:t>
            </a:r>
          </a:p>
        </p:txBody>
      </p:sp>
      <p:sp>
        <p:nvSpPr>
          <p:cNvPr id="8" name="Analyst relevance">
            <a:extLst xmlns:a="http://schemas.openxmlformats.org/drawingml/2006/main">
              <a:ext uri="{FF2B5EF4-FFF2-40B4-BE49-F238E27FC236}">
                <a16:creationId xmlns:a16="http://schemas.microsoft.com/office/drawing/2014/main" id="{7DB2659A-142E-4556-B163-05F94B2C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Analyst relevance</a:t>
            </a:r>
          </a:p>
        </p:txBody>
      </p:sp>
      <p:sp>
        <p:nvSpPr>
          <p:cNvPr id="9" name="Joins and clear entity relationships turned s">
            <a:extLst xmlns:a="http://schemas.openxmlformats.org/drawingml/2006/main">
              <a:ext uri="{FF2B5EF4-FFF2-40B4-BE49-F238E27FC236}">
                <a16:creationId xmlns:a16="http://schemas.microsoft.com/office/drawing/2014/main" id="{3DDEB24C-676D-4D41-8338-FFFC6198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10100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Joins and clear entity relationships turned separate tables into information users could review.</a:t>
            </a:r>
          </a:p>
        </p:txBody>
      </p:sp>
    </p:spTree>
    <p:extLst>
      <p:ext uri="{BB962C8B-B14F-4D97-AF65-F5344CB8AC3E}">
        <p14:creationId xmlns:p14="http://schemas.microsoft.com/office/powerpoint/2010/main" val="24899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QUALITY ASSURANCE">
            <a:extLst xmlns:a="http://schemas.openxmlformats.org/drawingml/2006/main">
              <a:ext uri="{FF2B5EF4-FFF2-40B4-BE49-F238E27FC236}">
                <a16:creationId xmlns:a16="http://schemas.microsoft.com/office/drawing/2014/main" id="{DBA4B812-8EA5-4C7D-A655-545B6E00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QUALITY ASSURANCE</a:t>
            </a:r>
          </a:p>
        </p:txBody>
      </p:sp>
      <p:sp>
        <p:nvSpPr>
          <p:cNvPr id="2" name="Testing checked the data behind the workflow">
            <a:extLst xmlns:a="http://schemas.openxmlformats.org/drawingml/2006/main">
              <a:ext uri="{FF2B5EF4-FFF2-40B4-BE49-F238E27FC236}">
                <a16:creationId xmlns:a16="http://schemas.microsoft.com/office/drawing/2014/main" id="{F46B5761-74FC-4EEC-9238-77EEC52A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Testing checked the data behind the workflow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4057638D-1067-4489-9C94-D3F927C3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5EBE852C-2749-47E1-9A4E-D3A438B4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2A541-BD4A-4C22-9D14-2134FC7483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d12a9188f4be1"/>
          <a:stretch xmlns:a="http://schemas.openxmlformats.org/drawingml/2006/main"/>
        </p:blipFill>
        <p:spPr>
          <a:xfrm xmlns:a="http://schemas.openxmlformats.org/drawingml/2006/main">
            <a:off x="626188" y="2066925"/>
            <a:ext cx="7491574" cy="4181475"/>
          </a:xfrm>
          <a:prstGeom xmlns:a="http://schemas.openxmlformats.org/drawingml/2006/main" prst="rect">
            <a:avLst/>
          </a:prstGeom>
        </p:spPr>
      </p:pic>
      <p:sp>
        <p:nvSpPr>
          <p:cNvPr id="6" name="Database checks">
            <a:extLst xmlns:a="http://schemas.openxmlformats.org/drawingml/2006/main">
              <a:ext uri="{FF2B5EF4-FFF2-40B4-BE49-F238E27FC236}">
                <a16:creationId xmlns:a16="http://schemas.microsoft.com/office/drawing/2014/main" id="{B766D342-4A4A-463C-9D16-599A8F9A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145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Database checks</a:t>
            </a:r>
          </a:p>
        </p:txBody>
      </p:sp>
      <p:sp>
        <p:nvSpPr>
          <p:cNvPr id="7" name="Reviewed table contents, keys and relationshi">
            <a:extLst xmlns:a="http://schemas.openxmlformats.org/drawingml/2006/main">
              <a:ext uri="{FF2B5EF4-FFF2-40B4-BE49-F238E27FC236}">
                <a16:creationId xmlns:a16="http://schemas.microsoft.com/office/drawing/2014/main" id="{E4A209EF-523C-42E4-831C-1ACADE88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Reviewed table contents, keys and relationships to identify inconsistent or invalid records.</a:t>
            </a:r>
          </a:p>
        </p:txBody>
      </p:sp>
      <p:sp>
        <p:nvSpPr>
          <p:cNvPr id="8" name="Functional checks">
            <a:extLst xmlns:a="http://schemas.openxmlformats.org/drawingml/2006/main">
              <a:ext uri="{FF2B5EF4-FFF2-40B4-BE49-F238E27FC236}">
                <a16:creationId xmlns:a16="http://schemas.microsoft.com/office/drawing/2014/main" id="{D641FD1B-8441-4423-8B05-3D197119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Functional checks</a:t>
            </a:r>
          </a:p>
        </p:txBody>
      </p:sp>
      <p:sp>
        <p:nvSpPr>
          <p:cNvPr id="9" name="Tested search filters, permissions and tracki">
            <a:extLst xmlns:a="http://schemas.openxmlformats.org/drawingml/2006/main">
              <a:ext uri="{FF2B5EF4-FFF2-40B4-BE49-F238E27FC236}">
                <a16:creationId xmlns:a16="http://schemas.microsoft.com/office/drawing/2014/main" id="{91730564-0365-4FA9-B441-B632AB2C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10100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Tested search filters, permissions and tracking behavior, and supported defect resolution.</a:t>
            </a:r>
          </a:p>
        </p:txBody>
      </p:sp>
    </p:spTree>
    <p:extLst>
      <p:ext uri="{BB962C8B-B14F-4D97-AF65-F5344CB8AC3E}">
        <p14:creationId xmlns:p14="http://schemas.microsoft.com/office/powerpoint/2010/main" val="1754758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PORTING APPLICATIONS">
            <a:extLst xmlns:a="http://schemas.openxmlformats.org/drawingml/2006/main">
              <a:ext uri="{FF2B5EF4-FFF2-40B4-BE49-F238E27FC236}">
                <a16:creationId xmlns:a16="http://schemas.microsoft.com/office/drawing/2014/main" id="{D71970B9-96DE-429B-95FE-614BFDCC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REPORTING APPLICATIONS</a:t>
            </a:r>
          </a:p>
        </p:txBody>
      </p:sp>
      <p:sp>
        <p:nvSpPr>
          <p:cNvPr id="2" name="The model supported operational reporting">
            <a:extLst xmlns:a="http://schemas.openxmlformats.org/drawingml/2006/main">
              <a:ext uri="{FF2B5EF4-FFF2-40B4-BE49-F238E27FC236}">
                <a16:creationId xmlns:a16="http://schemas.microsoft.com/office/drawing/2014/main" id="{1ABEABB3-12CB-4749-9738-F795F224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The model supported operational reporting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7784D842-491F-4139-B16E-C0C0BE29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0B641916-15CB-416F-A491-DCF9524F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Inventory availability">
            <a:extLst xmlns:a="http://schemas.openxmlformats.org/drawingml/2006/main">
              <a:ext uri="{FF2B5EF4-FFF2-40B4-BE49-F238E27FC236}">
                <a16:creationId xmlns:a16="http://schemas.microsoft.com/office/drawing/2014/main" id="{4B520411-07D0-4BFB-BC8F-7F7A53F9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Inventory availability</a:t>
            </a:r>
          </a:p>
        </p:txBody>
      </p:sp>
      <p:sp>
        <p:nvSpPr>
          <p:cNvPr id="6" name="Identify food by type, quantity and expiratio">
            <a:extLst xmlns:a="http://schemas.openxmlformats.org/drawingml/2006/main">
              <a:ext uri="{FF2B5EF4-FFF2-40B4-BE49-F238E27FC236}">
                <a16:creationId xmlns:a16="http://schemas.microsoft.com/office/drawing/2014/main" id="{E655585F-A97C-488C-976C-56BB4865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Identify food by type, quantity and expiration date to support allocation and timely distribution.</a:t>
            </a:r>
          </a:p>
        </p:txBody>
      </p:sp>
      <p:sp>
        <p:nvSpPr>
          <p:cNvPr id="7" name="Donation tracking">
            <a:extLst xmlns:a="http://schemas.openxmlformats.org/drawingml/2006/main">
              <a:ext uri="{FF2B5EF4-FFF2-40B4-BE49-F238E27FC236}">
                <a16:creationId xmlns:a16="http://schemas.microsoft.com/office/drawing/2014/main" id="{F6556215-19D4-4769-B255-9A6817E8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Donation tracking</a:t>
            </a:r>
          </a:p>
        </p:txBody>
      </p:sp>
      <p:sp>
        <p:nvSpPr>
          <p:cNvPr id="8" name="Connect food sources and destinations to revi">
            <a:extLst xmlns:a="http://schemas.openxmlformats.org/drawingml/2006/main">
              <a:ext uri="{FF2B5EF4-FFF2-40B4-BE49-F238E27FC236}">
                <a16:creationId xmlns:a16="http://schemas.microsoft.com/office/drawing/2014/main" id="{F8F973D2-2A1B-4045-83BD-E08A4FBC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Connect food sources and destinations to review donation status and follow up on pending items.</a:t>
            </a:r>
          </a:p>
        </p:txBody>
      </p:sp>
      <p:sp>
        <p:nvSpPr>
          <p:cNvPr id="9" name="Donor and pantry activity">
            <a:extLst xmlns:a="http://schemas.openxmlformats.org/drawingml/2006/main">
              <a:ext uri="{FF2B5EF4-FFF2-40B4-BE49-F238E27FC236}">
                <a16:creationId xmlns:a16="http://schemas.microsoft.com/office/drawing/2014/main" id="{DDA7C097-3431-4CF8-BBEC-2AD627D9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Donor and pantry activity</a:t>
            </a:r>
          </a:p>
        </p:txBody>
      </p:sp>
      <p:sp>
        <p:nvSpPr>
          <p:cNvPr id="10" name="Summarize contributions and pantry activity f">
            <a:extLst xmlns:a="http://schemas.openxmlformats.org/drawingml/2006/main">
              <a:ext uri="{FF2B5EF4-FFF2-40B4-BE49-F238E27FC236}">
                <a16:creationId xmlns:a16="http://schemas.microsoft.com/office/drawing/2014/main" id="{0AEABF4A-D7B6-46D3-9551-83584292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Summarize contributions and pantry activity for coordination and project reporting.</a:t>
            </a:r>
          </a:p>
        </p:txBody>
      </p:sp>
      <p:sp>
        <p:nvSpPr>
          <p:cNvPr id="11" name="Data quality follow-up">
            <a:extLst xmlns:a="http://schemas.openxmlformats.org/drawingml/2006/main">
              <a:ext uri="{FF2B5EF4-FFF2-40B4-BE49-F238E27FC236}">
                <a16:creationId xmlns:a16="http://schemas.microsoft.com/office/drawing/2014/main" id="{B0006A6E-3B72-46AC-B562-F43379B3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Data quality follow-up</a:t>
            </a:r>
          </a:p>
        </p:txBody>
      </p:sp>
      <p:sp>
        <p:nvSpPr>
          <p:cNvPr id="12" name="Use exceptions and relationship checks to fla">
            <a:extLst xmlns:a="http://schemas.openxmlformats.org/drawingml/2006/main">
              <a:ext uri="{FF2B5EF4-FFF2-40B4-BE49-F238E27FC236}">
                <a16:creationId xmlns:a16="http://schemas.microsoft.com/office/drawing/2014/main" id="{858E47F7-28A0-4AC2-BA47-DC133F5A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Use exceptions and relationship checks to flag incomplete records before reporting.</a:t>
            </a:r>
          </a:p>
        </p:txBody>
      </p:sp>
    </p:spTree>
    <p:extLst>
      <p:ext uri="{BB962C8B-B14F-4D97-AF65-F5344CB8AC3E}">
        <p14:creationId xmlns:p14="http://schemas.microsoft.com/office/powerpoint/2010/main" val="2030066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NTRIBUTION AND NEXT STEPS">
            <a:extLst xmlns:a="http://schemas.openxmlformats.org/drawingml/2006/main">
              <a:ext uri="{FF2B5EF4-FFF2-40B4-BE49-F238E27FC236}">
                <a16:creationId xmlns:a16="http://schemas.microsoft.com/office/drawing/2014/main" id="{315E220F-C52E-4F70-9827-6A893F1F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CONTRIBUTION AND NEXT STEPS</a:t>
            </a:r>
          </a:p>
        </p:txBody>
      </p:sp>
      <p:sp>
        <p:nvSpPr>
          <p:cNvPr id="2" name="What the project demonstrated">
            <a:extLst xmlns:a="http://schemas.openxmlformats.org/drawingml/2006/main">
              <a:ext uri="{FF2B5EF4-FFF2-40B4-BE49-F238E27FC236}">
                <a16:creationId xmlns:a16="http://schemas.microsoft.com/office/drawing/2014/main" id="{A2779F94-0BA6-4E8B-83BB-05244BC5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What the project demonstrated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AF80F973-6074-4343-BCE4-EAA3881E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D08235BB-CE8A-4927-B9E4-B23F81D9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My contribution">
            <a:extLst xmlns:a="http://schemas.openxmlformats.org/drawingml/2006/main">
              <a:ext uri="{FF2B5EF4-FFF2-40B4-BE49-F238E27FC236}">
                <a16:creationId xmlns:a16="http://schemas.microsoft.com/office/drawing/2014/main" id="{0060A4C2-3A54-4FCA-82B6-FC88DFCC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My contribution</a:t>
            </a:r>
          </a:p>
        </p:txBody>
      </p:sp>
      <p:sp>
        <p:nvSpPr>
          <p:cNvPr id="6" name="Combined database design with validation and ">
            <a:extLst xmlns:a="http://schemas.openxmlformats.org/drawingml/2006/main">
              <a:ext uri="{FF2B5EF4-FFF2-40B4-BE49-F238E27FC236}">
                <a16:creationId xmlns:a16="http://schemas.microsoft.com/office/drawing/2014/main" id="{5D44E41A-75A5-4E9F-B666-89CE079C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Combined database design with validation and functional testing as part of a four-person academic team.</a:t>
            </a:r>
          </a:p>
        </p:txBody>
      </p:sp>
      <p:sp>
        <p:nvSpPr>
          <p:cNvPr id="7" name="Skills demonstrated">
            <a:extLst xmlns:a="http://schemas.openxmlformats.org/drawingml/2006/main">
              <a:ext uri="{FF2B5EF4-FFF2-40B4-BE49-F238E27FC236}">
                <a16:creationId xmlns:a16="http://schemas.microsoft.com/office/drawing/2014/main" id="{39E03260-FF67-4572-9A64-55780EED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Skills demonstrated</a:t>
            </a:r>
          </a:p>
        </p:txBody>
      </p:sp>
      <p:sp>
        <p:nvSpPr>
          <p:cNvPr id="8" name="Relational modeling, MySQL, MySQL Workbench, ">
            <a:extLst xmlns:a="http://schemas.openxmlformats.org/drawingml/2006/main">
              <a:ext uri="{FF2B5EF4-FFF2-40B4-BE49-F238E27FC236}">
                <a16:creationId xmlns:a16="http://schemas.microsoft.com/office/drawing/2014/main" id="{22FD76F7-F934-432F-94DA-4DCDE0A6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Relational modeling, MySQL, MySQL Workbench, Lucidchart, data validation and collaborative problem solving.</a:t>
            </a:r>
          </a:p>
        </p:txBody>
      </p:sp>
      <p:sp>
        <p:nvSpPr>
          <p:cNvPr id="9" name="Next improvement">
            <a:extLst xmlns:a="http://schemas.openxmlformats.org/drawingml/2006/main">
              <a:ext uri="{FF2B5EF4-FFF2-40B4-BE49-F238E27FC236}">
                <a16:creationId xmlns:a16="http://schemas.microsoft.com/office/drawing/2014/main" id="{22579192-6B17-49C1-97B3-EB8DB412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Next improvement</a:t>
            </a:r>
          </a:p>
        </p:txBody>
      </p:sp>
      <p:sp>
        <p:nvSpPr>
          <p:cNvPr id="10" name="Store quantities as numeric values with expli">
            <a:extLst xmlns:a="http://schemas.openxmlformats.org/drawingml/2006/main">
              <a:ext uri="{FF2B5EF4-FFF2-40B4-BE49-F238E27FC236}">
                <a16:creationId xmlns:a16="http://schemas.microsoft.com/office/drawing/2014/main" id="{8DEB1B31-FC85-49F8-9498-18BB42EA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Store quantities as numeric values with explicit units, and enforce available-stock and expiration rules.</a:t>
            </a:r>
          </a:p>
        </p:txBody>
      </p:sp>
      <p:sp>
        <p:nvSpPr>
          <p:cNvPr id="11" name="Scope">
            <a:extLst xmlns:a="http://schemas.openxmlformats.org/drawingml/2006/main">
              <a:ext uri="{FF2B5EF4-FFF2-40B4-BE49-F238E27FC236}">
                <a16:creationId xmlns:a16="http://schemas.microsoft.com/office/drawing/2014/main" id="{01A5A7AF-B510-4630-985D-791FCB1F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2" name="The deliverable was an academic prototype. Co">
            <a:extLst xmlns:a="http://schemas.openxmlformats.org/drawingml/2006/main">
              <a:ext uri="{FF2B5EF4-FFF2-40B4-BE49-F238E27FC236}">
                <a16:creationId xmlns:a16="http://schemas.microsoft.com/office/drawing/2014/main" id="{FACAD16D-2E10-4F1D-ACEE-46490F4D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The deliverable was an academic prototype. Community impact and production performance were not measured.</a:t>
            </a:r>
          </a:p>
        </p:txBody>
      </p:sp>
    </p:spTree>
    <p:extLst>
      <p:ext uri="{BB962C8B-B14F-4D97-AF65-F5344CB8AC3E}">
        <p14:creationId xmlns:p14="http://schemas.microsoft.com/office/powerpoint/2010/main" val="1856527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2026-10-16T00:58:27.2690000Z</dcterms:created>
  <dcterms:modified xsi:type="dcterms:W3CDTF">2026-10-16T00:58:27.2690000Z</dcterms:modified>
</coreProperties>
</file>