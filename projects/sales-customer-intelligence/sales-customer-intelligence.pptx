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2b2e8fe0df4914" /><Relationship Type="http://schemas.openxmlformats.org/officeDocument/2006/relationships/extended-properties" Target="/docProps/app.xml" Id="R2e4aef68415f45d1" /><Relationship Type="http://schemas.openxmlformats.org/officeDocument/2006/relationships/officeDocument" Target="/ppt/presentation.xml" Id="R909eedff731f43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bda872eb4643e1"/>
  </p:sldMasterIdLst>
  <p:notesMasterIdLst>
    <p:notesMasterId xmlns:r="http://schemas.openxmlformats.org/officeDocument/2006/relationships" r:id="Rfae4bf2d8c344865"/>
  </p:notesMasterIdLst>
  <p:sldIdLst>
    <p:sldId xmlns:r="http://schemas.openxmlformats.org/officeDocument/2006/relationships" id="256" r:id="R1e227a1e956a45f7"/>
    <p:sldId xmlns:r="http://schemas.openxmlformats.org/officeDocument/2006/relationships" id="257" r:id="R32b85f42d1f143ae"/>
    <p:sldId xmlns:r="http://schemas.openxmlformats.org/officeDocument/2006/relationships" id="258" r:id="Rf4c9a0112ec44459"/>
    <p:sldId xmlns:r="http://schemas.openxmlformats.org/officeDocument/2006/relationships" id="259" r:id="Rf0185fa17acb4916"/>
    <p:sldId xmlns:r="http://schemas.openxmlformats.org/officeDocument/2006/relationships" id="260" r:id="Rd746d9b73a804abe"/>
    <p:sldId xmlns:r="http://schemas.openxmlformats.org/officeDocument/2006/relationships" id="261" r:id="R3862c51f6b7f4e08"/>
    <p:sldId xmlns:r="http://schemas.openxmlformats.org/officeDocument/2006/relationships" id="262" r:id="R3a8762dafb144120"/>
    <p:sldId xmlns:r="http://schemas.openxmlformats.org/officeDocument/2006/relationships" id="263" r:id="Rd0e4c353db0241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642888f32b4f66" /><Relationship Type="http://schemas.openxmlformats.org/officeDocument/2006/relationships/slideMaster" Target="/ppt/slideMasters/slideMaster1.xml" Id="R55bda872eb4643e1" /><Relationship Type="http://schemas.openxmlformats.org/officeDocument/2006/relationships/notesMaster" Target="/ppt/notesMasters/notesMaster1.xml" Id="Rfae4bf2d8c344865" /><Relationship Type="http://schemas.openxmlformats.org/officeDocument/2006/relationships/presProps" Target="/ppt/presProps.xml" Id="R0db7792a83134cfe" /><Relationship Type="http://schemas.openxmlformats.org/officeDocument/2006/relationships/tableStyles" Target="/ppt/tableStyles.xml" Id="R188cd0921f91401c" /><Relationship Type="http://schemas.openxmlformats.org/officeDocument/2006/relationships/slide" Target="/ppt/slides/slide1.xml" Id="R1e227a1e956a45f7" /><Relationship Type="http://schemas.openxmlformats.org/officeDocument/2006/relationships/slide" Target="/ppt/slides/slide2.xml" Id="R32b85f42d1f143ae" /><Relationship Type="http://schemas.openxmlformats.org/officeDocument/2006/relationships/slide" Target="/ppt/slides/slide3.xml" Id="Rf4c9a0112ec44459" /><Relationship Type="http://schemas.openxmlformats.org/officeDocument/2006/relationships/slide" Target="/ppt/slides/slide4.xml" Id="Rf0185fa17acb4916" /><Relationship Type="http://schemas.openxmlformats.org/officeDocument/2006/relationships/slide" Target="/ppt/slides/slide5.xml" Id="Rd746d9b73a804abe" /><Relationship Type="http://schemas.openxmlformats.org/officeDocument/2006/relationships/slide" Target="/ppt/slides/slide6.xml" Id="R3862c51f6b7f4e08" /><Relationship Type="http://schemas.openxmlformats.org/officeDocument/2006/relationships/slide" Target="/ppt/slides/slide7.xml" Id="R3a8762dafb144120" /><Relationship Type="http://schemas.openxmlformats.org/officeDocument/2006/relationships/slide" Target="/ppt/slides/slide8.xml" Id="Rd0e4c353db0241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043713ba3040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d361dbc5044f40" /><Relationship Type="http://schemas.openxmlformats.org/officeDocument/2006/relationships/notesMaster" Target="/ppt/notesMasters/notesMaster1.xml" Id="R11b0b187f9e742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0aca64e5c0e400c" /><Relationship Type="http://schemas.openxmlformats.org/officeDocument/2006/relationships/notesMaster" Target="/ppt/notesMasters/notesMaster1.xml" Id="Re422c0d991b24a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c5c3a6d3ea452b" /><Relationship Type="http://schemas.openxmlformats.org/officeDocument/2006/relationships/notesMaster" Target="/ppt/notesMasters/notesMaster1.xml" Id="R538ca409d8c44c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39ddf250c8429d" /><Relationship Type="http://schemas.openxmlformats.org/officeDocument/2006/relationships/notesMaster" Target="/ppt/notesMasters/notesMaster1.xml" Id="R18aa4bad7d1045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6cc34a60d4407c" /><Relationship Type="http://schemas.openxmlformats.org/officeDocument/2006/relationships/notesMaster" Target="/ppt/notesMasters/notesMaster1.xml" Id="Rff93b376df194a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f6a7ca9a4c4991" /><Relationship Type="http://schemas.openxmlformats.org/officeDocument/2006/relationships/notesMaster" Target="/ppt/notesMasters/notesMaster1.xml" Id="R012032967d2146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b64b8d1dbb429a" /><Relationship Type="http://schemas.openxmlformats.org/officeDocument/2006/relationships/notesMaster" Target="/ppt/notesMasters/notesMaster1.xml" Id="Rc82790e1818b48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ddda703d36740de" /><Relationship Type="http://schemas.openxmlformats.org/officeDocument/2006/relationships/notesMaster" Target="/ppt/notesMasters/notesMaster1.xml" Id="Rca1600e930614d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https://github.com/camelliapramanik/sales-customer-intelligence</a:t>
            </a:r>
          </a:p>
          <a:p xmlns:a="http://schemas.openxmlformats.org/drawingml/2006/main">
            <a:r>
              <a:t>Source: README, docs/metadata/snapshot.json and docs/VALIDATION.md. Microsoft AdventureWorks sample data, not an employer engagement.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https://github.com/camelliapramanik/sales-customer-intelligence/blob/main/docs/DATA_MODEL.md</a:t>
            </a:r>
          </a:p>
          <a:p xmlns:a="http://schemas.openxmlformats.org/drawingml/2006/main">
            <a:r>
              <a:t>55 measures and 4 visible analytical pages verified in repository metadata.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https://github.com/camelliapramanik/sales-customer-intelligence/blob/main/docs/metadata/snapshot.json</a:t>
            </a:r>
          </a:p>
          <a:p xmlns:a="http://schemas.openxmlformats.org/drawingml/2006/main">
            <a:r>
              <a:t>All values unfiltered, independently aggregated from embedded PBIX data. Source monetary units, no currency conversion. Profit is a standard-cost estimate.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https://github.com/camelliapramanik/sales-customer-intelligence/blob/main/docs/metadata/snapshot.json</a:t>
            </a:r>
          </a:p>
          <a:p xmlns:a="http://schemas.openxmlformats.org/drawingml/2006/main">
            <a:r>
              <a:t>Online sales 29,358,677.89 and profit 12,080,819.83. Reseller sales 80,487,703.01 and profit 476,904.22. Percentages computed from these sums. Investigate mix, discounts and historical cost assumptions before acting.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https://github.com/camelliapramanik/sales-customer-intelligence/blob/main/docs/metadata/snapshot.json</a:t>
            </a:r>
          </a:p>
          <a:p xmlns:a="http://schemas.openxmlformats.org/drawingml/2006/main">
            <a:r>
              <a:t>Sales by category in source monetary units. Accessories had 1.16% of sales and 49.87% estimated standard-cost margin. This suggests a question to investigate, not demonstrated cross-sell uplift.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https://github.com/camelliapramanik/sales-customer-intelligence/blob/main/docs/METRICS.md</a:t>
            </a:r>
          </a:p>
          <a:p xmlns:a="http://schemas.openxmlformats.org/drawingml/2006/main">
            <a:r>
              <a:t>Source snapshot as of June 29, 2025. Active means last purchase at most 90 days before analysis date. Inactive is not confirmed churn.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https://github.com/camelliapramanik/sales-customer-intelligence/blob/main/docs/REPORT_GUIDE.md</a:t>
            </a:r>
          </a:p>
          <a:p xmlns:a="http://schemas.openxmlformats.org/drawingml/2006/main">
            <a:r>
              <a:t>Image is the repository launch-video preview, an animated reconstruction from imported sample data, not a Power BI Desktop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https://github.com/camelliapramanik/sales-customer-intelligence/blob/main/docs/VALIDATION.md</a:t>
            </a:r>
          </a:p>
          <a:p xmlns:a="http://schemas.openxmlformats.org/drawingml/2006/main">
            <a:r>
              <a:t>Zero duplicate fact IDs, zero duplicate dimension keys and zero unmatched fact keys found in embedded-data validation. These are repository checks, not a new SQL Server or DAX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1f94a178ca4c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46ffabfeb64b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3d9e01103841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fc1f4034014b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0734adfe074c5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ce778955b74d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4C408C-0BE4-43C4-A5F6-B8FD9D146D7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F594D09-F5B3-4746-9E80-DEA7668D7E7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16E1E52-8428-41C8-BA65-786EC11D9D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C25354-253F-4B70-BC0E-87BCDCBAF3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4891677-1E95-4FBF-9AE5-DA21D75E30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87DBA4B-BE41-4F05-8A20-C63C44AE41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520992-BEFF-4612-8F62-99FA57EB22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7F656D-A711-4F9C-8EF9-C3C640A32A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3C22B7-1210-4331-8AC2-6199FDB08E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F27003-68FE-411E-9622-D5D2BE4859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2bd3ac9c1e4c49" /><Relationship Type="http://schemas.openxmlformats.org/officeDocument/2006/relationships/slideLayout" Target="/ppt/slideLayouts/slideLayout1.xml" Id="R697e7fb59a824070" /><Relationship Type="http://schemas.openxmlformats.org/officeDocument/2006/relationships/slideLayout" Target="/ppt/slideLayouts/slideLayout2.xml" Id="Rd10d0052dc7a4174" /><Relationship Type="http://schemas.openxmlformats.org/officeDocument/2006/relationships/slideLayout" Target="/ppt/slideLayouts/slideLayout3.xml" Id="R241a53a9098646de" /><Relationship Type="http://schemas.openxmlformats.org/officeDocument/2006/relationships/slideLayout" Target="/ppt/slideLayouts/slideLayout4.xml" Id="Rb55b23e11b04437a" /><Relationship Type="http://schemas.openxmlformats.org/officeDocument/2006/relationships/slideLayout" Target="/ppt/slideLayouts/slideLayout5.xml" Id="R768e5d6844084f0d" /><Relationship Type="http://schemas.openxmlformats.org/officeDocument/2006/relationships/slideLayout" Target="/ppt/slideLayouts/slideLayout6.xml" Id="Rec5fdd0fa70d47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7e7fb59a824070"/>
    <p:sldLayoutId xmlns:r="http://schemas.openxmlformats.org/officeDocument/2006/relationships" id="2147483650" r:id="Rd10d0052dc7a4174"/>
    <p:sldLayoutId xmlns:r="http://schemas.openxmlformats.org/officeDocument/2006/relationships" id="2147483651" r:id="R241a53a9098646de"/>
    <p:sldLayoutId xmlns:r="http://schemas.openxmlformats.org/officeDocument/2006/relationships" id="2147483652" r:id="Rb55b23e11b04437a"/>
    <p:sldLayoutId xmlns:r="http://schemas.openxmlformats.org/officeDocument/2006/relationships" id="2147483653" r:id="R768e5d6844084f0d"/>
    <p:sldLayoutId xmlns:r="http://schemas.openxmlformats.org/officeDocument/2006/relationships" id="2147483654" r:id="Rec5fdd0fa70d47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4a88ac2938428c" /><Relationship Type="http://schemas.openxmlformats.org/officeDocument/2006/relationships/hyperlink" Target="https://camelliapramanik.github.io/" TargetMode="External" Id="R0be77d7cf3054101" /><Relationship Type="http://schemas.openxmlformats.org/officeDocument/2006/relationships/notesSlide" Target="/ppt/notesSlides/notesSlide1.xml" Id="R7c7883093d9840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bd034382824dcc" /><Relationship Type="http://schemas.openxmlformats.org/officeDocument/2006/relationships/notesSlide" Target="/ppt/notesSlides/notesSlide2.xml" Id="R9221bf99507f4d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cb0897e0314f5f" /><Relationship Type="http://schemas.openxmlformats.org/officeDocument/2006/relationships/notesSlide" Target="/ppt/notesSlides/notesSlide3.xml" Id="Rac48b48d3d8b4c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49fad168434dfc" /><Relationship Type="http://schemas.openxmlformats.org/officeDocument/2006/relationships/chart" Target="/ppt/slides/charts/chart1.xml" Id="Rfba9c204f08d4049" /><Relationship Type="http://schemas.openxmlformats.org/officeDocument/2006/relationships/chart" Target="/ppt/slides/charts/chart2.xml" Id="Re2dfca73b5274a45" /><Relationship Type="http://schemas.openxmlformats.org/officeDocument/2006/relationships/notesSlide" Target="/ppt/notesSlides/notesSlide4.xml" Id="R94645ddd5d8b47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155850d3a5498e" /><Relationship Type="http://schemas.openxmlformats.org/officeDocument/2006/relationships/chart" Target="/ppt/slides/charts/chart3.xml" Id="R9452966071cd45f4" /><Relationship Type="http://schemas.openxmlformats.org/officeDocument/2006/relationships/notesSlide" Target="/ppt/notesSlides/notesSlide5.xml" Id="R9333ad8e645140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14675ac35d4ae1" /><Relationship Type="http://schemas.openxmlformats.org/officeDocument/2006/relationships/notesSlide" Target="/ppt/notesSlides/notesSlide6.xml" Id="R283dbd9d59474d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e169d79ada4def" /><Relationship Type="http://schemas.openxmlformats.org/officeDocument/2006/relationships/image" Target="/ppt/media/image.jpeg" Id="Rb52efb035b5f425b" /><Relationship Type="http://schemas.openxmlformats.org/officeDocument/2006/relationships/hyperlink" Target="https://camelliapramanik.github.io/#projects" TargetMode="External" Id="R96983794f7d74dee" /><Relationship Type="http://schemas.openxmlformats.org/officeDocument/2006/relationships/notesSlide" Target="/ppt/notesSlides/notesSlide7.xml" Id="R30931f0d5d0746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0c811fcf424b64" /><Relationship Type="http://schemas.openxmlformats.org/officeDocument/2006/relationships/notesSlide" Target="/ppt/notesSlides/notesSlide8.xml" Id="R606478f3db79436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Sales share</c:v>
          </c:tx>
          <c:spPr>
            <a:solidFill xmlns:a="http://schemas.openxmlformats.org/drawingml/2006/main">
              <a:srgbClr val="426E8C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Reseller</c:v>
                </c:pt>
                <c:pt idx="1">
                  <c:v>Online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0.732729</c:v>
                </c:pt>
                <c:pt idx="1">
                  <c:v>0.267271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628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3C2C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A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BFC"/>
        </a:solidFill>
      </c:spPr>
    </c:plotArea>
    <c:plotVisOnly val="1"/>
  </c:chart>
  <c:spPr>
    <a:solidFill xmlns:a="http://schemas.openxmlformats.org/drawingml/2006/main">
      <a:srgbClr val="FAFBFC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Estimated margin</c:v>
          </c:tx>
          <c:spPr>
            <a:solidFill xmlns:a="http://schemas.openxmlformats.org/drawingml/2006/main">
              <a:srgbClr val="426E8C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426E8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46E72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Reseller</c:v>
                </c:pt>
                <c:pt idx="1">
                  <c:v>Online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0.005925</c:v>
                </c:pt>
                <c:pt idx="1">
                  <c:v>0.411491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628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3C2C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A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BFC"/>
        </a:solidFill>
      </c:spPr>
    </c:plotArea>
    <c:plotVisOnly val="1"/>
  </c:chart>
  <c:spPr>
    <a:solidFill xmlns:a="http://schemas.openxmlformats.org/drawingml/2006/main">
      <a:srgbClr val="FAFBFC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Net sales, millions</c:v>
          </c:tx>
          <c:spPr>
            <a:solidFill xmlns:a="http://schemas.openxmlformats.org/drawingml/2006/main">
              <a:srgbClr val="426E8C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Bikes</c:v>
                </c:pt>
                <c:pt idx="1">
                  <c:v>Components</c:v>
                </c:pt>
                <c:pt idx="2">
                  <c:v>Clothing</c:v>
                </c:pt>
                <c:pt idx="3">
                  <c:v>Accessories</c:v>
                </c:pt>
              </c:strCache>
            </c:strRef>
          </c:cat>
          <c:val>
            <c:numRef>
              <c:f>'Chart Data'!$B$2:$B$5</c:f>
              <c:numCache>
                <c:formatCode>0.0"M"</c:formatCode>
                <c:ptCount val="4"/>
                <c:pt idx="0">
                  <c:v>94.65117311</c:v>
                </c:pt>
                <c:pt idx="1">
                  <c:v>11.80259079</c:v>
                </c:pt>
                <c:pt idx="2">
                  <c:v>2.12054229</c:v>
                </c:pt>
                <c:pt idx="3">
                  <c:v>1.27207471</c:v>
                </c:pt>
              </c:numCache>
            </c:numRef>
          </c:val>
        </c:ser>
        <c:dLbls>
          <c:numFmt formatCode="0.0&quot;M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 b="1">
                  <a:solidFill>
                    <a:srgbClr val="1628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3C2C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A"/>
              </a:solidFill>
            </a:ln>
          </c:spPr>
        </c:majorGridlines>
        <c:numFmt formatCode="0.0&quot;M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BFC"/>
        </a:solidFill>
      </c:spPr>
    </c:plotArea>
    <c:plotVisOnly val="1"/>
  </c:chart>
  <c:spPr>
    <a:solidFill xmlns:a="http://schemas.openxmlformats.org/drawingml/2006/main">
      <a:srgbClr val="FAFBFC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USINESS INTELLIGENCE">
            <a:extLst xmlns:a="http://schemas.openxmlformats.org/drawingml/2006/main">
              <a:ext uri="{FF2B5EF4-FFF2-40B4-BE49-F238E27FC236}">
                <a16:creationId xmlns:a16="http://schemas.microsoft.com/office/drawing/2014/main" id="{BA3FD45C-9DF2-45B2-B0F7-DE260698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A9C4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A9C4D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9C4D5"/>
                </a:solidFill>
                <a:latin typeface="Arial"/>
                <a:ea typeface="Arial"/>
                <a:cs typeface="Arial"/>
              </a:rPr>
              <a:t>BUSINESS INTELLIGENCE</a:t>
            </a:r>
          </a:p>
        </p:txBody>
      </p:sp>
      <p:sp>
        <p:nvSpPr>
          <p:cNvPr id="2" name="Camellia Pramanick">
            <a:extLst xmlns:a="http://schemas.openxmlformats.org/drawingml/2006/main">
              <a:ext uri="{FF2B5EF4-FFF2-40B4-BE49-F238E27FC236}">
                <a16:creationId xmlns:a16="http://schemas.microsoft.com/office/drawing/2014/main" id="{10F1AB96-0194-4224-82DF-B9E286CF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BA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BACDD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CDDA"/>
                </a:solidFill>
                <a:latin typeface="Arial"/>
                <a:ea typeface="Arial"/>
                <a:cs typeface="Arial"/>
              </a:rPr>
              <a:t>Camellia Pramanick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CB4C32DF-C789-4526-AC86-67E6ED15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BACD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BACDD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ACDD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Sales &amp; Customer&#10;Intelligence">
            <a:extLst xmlns:a="http://schemas.openxmlformats.org/drawingml/2006/main">
              <a:ext uri="{FF2B5EF4-FFF2-40B4-BE49-F238E27FC236}">
                <a16:creationId xmlns:a16="http://schemas.microsoft.com/office/drawing/2014/main" id="{9E4AA5C5-AC09-4988-84FB-1A7CF80A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66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Sales &amp; Customer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Intelligence</a:t>
            </a:r>
          </a:p>
        </p:txBody>
      </p:sp>
      <p:sp>
        <p:nvSpPr>
          <p:cNvPr id="5" name="SQL Server and Power BI portfolio case study">
            <a:extLst xmlns:a="http://schemas.openxmlformats.org/drawingml/2006/main">
              <a:ext uri="{FF2B5EF4-FFF2-40B4-BE49-F238E27FC236}">
                <a16:creationId xmlns:a16="http://schemas.microsoft.com/office/drawing/2014/main" id="{722DCB3E-7D73-457F-A478-249B252DC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957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BCD2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BCD2D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CD2DF"/>
                </a:solidFill>
                <a:latin typeface="Arial"/>
                <a:ea typeface="Arial"/>
                <a:cs typeface="Arial"/>
              </a:rPr>
              <a:t>SQL Server and Power BI portfolio case study</a:t>
            </a:r>
          </a:p>
        </p:txBody>
      </p:sp>
      <p:sp>
        <p:nvSpPr>
          <p:cNvPr id="6" name="camelliapramanik.github.io">
            <a:extLst xmlns:a="http://schemas.openxmlformats.org/drawingml/2006/main">
              <a:ext uri="{FF2B5EF4-FFF2-40B4-BE49-F238E27FC236}">
                <a16:creationId xmlns:a16="http://schemas.microsoft.com/office/drawing/2014/main" id="{1E5941A2-4132-4384-995A-BEB197448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D6E6F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6E6F0"/>
                </a:solidFill>
                <a:latin typeface="Arial"/>
                <a:ea typeface="Arial"/>
                <a:cs typeface="Arial"/>
              </a:defRPr>
            </a:pPr>
            <a:r>
              <a:rPr sz="1725" u="sng">
                <a:solidFill>
                  <a:srgbClr val="D6E6F0"/>
                </a:solidFill>
                <a:latin typeface="Arial"/>
                <a:ea typeface="Arial"/>
                <a:cs typeface="Arial"/>
                <a:hlinkClick xmlns:r="http://schemas.openxmlformats.org/officeDocument/2006/relationships" r:id="R0be77d7cf3054101"/>
              </a:rPr>
              <a:t>camelliapramanik.github.io</a:t>
            </a:r>
          </a:p>
        </p:txBody>
      </p:sp>
    </p:spTree>
    <p:extLst>
      <p:ext uri="{BB962C8B-B14F-4D97-AF65-F5344CB8AC3E}">
        <p14:creationId xmlns:p14="http://schemas.microsoft.com/office/powerpoint/2010/main" val="20006129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HE WORK">
            <a:extLst xmlns:a="http://schemas.openxmlformats.org/drawingml/2006/main">
              <a:ext uri="{FF2B5EF4-FFF2-40B4-BE49-F238E27FC236}">
                <a16:creationId xmlns:a16="http://schemas.microsoft.com/office/drawing/2014/main" id="{349FB21B-C568-442D-A0B5-14FF8601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THE WORK</a:t>
            </a:r>
          </a:p>
        </p:txBody>
      </p:sp>
      <p:sp>
        <p:nvSpPr>
          <p:cNvPr id="2" name="A sales model built for business questions">
            <a:extLst xmlns:a="http://schemas.openxmlformats.org/drawingml/2006/main">
              <a:ext uri="{FF2B5EF4-FFF2-40B4-BE49-F238E27FC236}">
                <a16:creationId xmlns:a16="http://schemas.microsoft.com/office/drawing/2014/main" id="{36DFC088-6358-4251-B03C-577B9E26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A sales model built for business questions</a:t>
            </a:r>
          </a:p>
        </p:txBody>
      </p:sp>
      <p:sp>
        <p:nvSpPr>
          <p:cNvPr id="3" name="Camellia Pramanick">
            <a:extLst xmlns:a="http://schemas.openxmlformats.org/drawingml/2006/main">
              <a:ext uri="{FF2B5EF4-FFF2-40B4-BE49-F238E27FC236}">
                <a16:creationId xmlns:a16="http://schemas.microsoft.com/office/drawing/2014/main" id="{FC8C90C8-D4B5-495A-B94B-DF3E463E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Camellia Pramanick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4F92058B-DA96-489E-A164-0DC9E1D5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usiness questions">
            <a:extLst xmlns:a="http://schemas.openxmlformats.org/drawingml/2006/main">
              <a:ext uri="{FF2B5EF4-FFF2-40B4-BE49-F238E27FC236}">
                <a16:creationId xmlns:a16="http://schemas.microsoft.com/office/drawing/2014/main" id="{95D4FC45-CA5A-49FC-B90D-C5F0765F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Business questions</a:t>
            </a:r>
          </a:p>
        </p:txBody>
      </p:sp>
      <p:sp>
        <p:nvSpPr>
          <p:cNvPr id="6" name="Where did revenue come from? Which customers ">
            <a:extLst xmlns:a="http://schemas.openxmlformats.org/drawingml/2006/main">
              <a:ext uri="{FF2B5EF4-FFF2-40B4-BE49-F238E27FC236}">
                <a16:creationId xmlns:a16="http://schemas.microsoft.com/office/drawing/2014/main" id="{C369A6C8-8310-43A0-8D66-C58AA7632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Where did revenue come from? Which customers remained active? How did product and channel margins compare?</a:t>
            </a:r>
          </a:p>
        </p:txBody>
      </p:sp>
      <p:sp>
        <p:nvSpPr>
          <p:cNvPr id="7" name="My contribution">
            <a:extLst xmlns:a="http://schemas.openxmlformats.org/drawingml/2006/main">
              <a:ext uri="{FF2B5EF4-FFF2-40B4-BE49-F238E27FC236}">
                <a16:creationId xmlns:a16="http://schemas.microsoft.com/office/drawing/2014/main" id="{9AC20163-93E9-486A-BC52-8884CC68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My contribution</a:t>
            </a:r>
          </a:p>
        </p:txBody>
      </p:sp>
      <p:sp>
        <p:nvSpPr>
          <p:cNvPr id="8" name="Built the SQL analytics layer, transformed da">
            <a:extLst xmlns:a="http://schemas.openxmlformats.org/drawingml/2006/main">
              <a:ext uri="{FF2B5EF4-FFF2-40B4-BE49-F238E27FC236}">
                <a16:creationId xmlns:a16="http://schemas.microsoft.com/office/drawing/2014/main" id="{448885D7-E453-4488-9643-F05462D0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9555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Built the SQL analytics layer, transformed data in Power Query, and developed a Power BI model and DAX measures.</a:t>
            </a:r>
          </a:p>
        </p:txBody>
      </p:sp>
      <p:sp>
        <p:nvSpPr>
          <p:cNvPr id="9" name="1 fact table">
            <a:extLst xmlns:a="http://schemas.openxmlformats.org/drawingml/2006/main">
              <a:ext uri="{FF2B5EF4-FFF2-40B4-BE49-F238E27FC236}">
                <a16:creationId xmlns:a16="http://schemas.microsoft.com/office/drawing/2014/main" id="{44D20438-F9B6-40E8-BBF0-96A2CA2E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1 fact table</a:t>
            </a:r>
          </a:p>
        </p:txBody>
      </p:sp>
      <p:sp>
        <p:nvSpPr>
          <p:cNvPr id="10" name="Sales order detail grain">
            <a:extLst xmlns:a="http://schemas.openxmlformats.org/drawingml/2006/main">
              <a:ext uri="{FF2B5EF4-FFF2-40B4-BE49-F238E27FC236}">
                <a16:creationId xmlns:a16="http://schemas.microsoft.com/office/drawing/2014/main" id="{496378EA-CCCF-44BA-8735-385740C7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Sales order detail grain</a:t>
            </a:r>
          </a:p>
        </p:txBody>
      </p:sp>
      <p:sp>
        <p:nvSpPr>
          <p:cNvPr id="11" name="5 dimensions">
            <a:extLst xmlns:a="http://schemas.openxmlformats.org/drawingml/2006/main">
              <a:ext uri="{FF2B5EF4-FFF2-40B4-BE49-F238E27FC236}">
                <a16:creationId xmlns:a16="http://schemas.microsoft.com/office/drawing/2014/main" id="{EB8CCDB0-BD43-4C9F-9D45-94F54C36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43375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5 dimensions</a:t>
            </a:r>
          </a:p>
        </p:txBody>
      </p:sp>
      <p:sp>
        <p:nvSpPr>
          <p:cNvPr id="12" name="Date, customer, product,&#10;territory and salesp">
            <a:extLst xmlns:a="http://schemas.openxmlformats.org/drawingml/2006/main">
              <a:ext uri="{FF2B5EF4-FFF2-40B4-BE49-F238E27FC236}">
                <a16:creationId xmlns:a16="http://schemas.microsoft.com/office/drawing/2014/main" id="{7A9DEC4D-48AA-4569-8FF7-1E5A39CF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05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Date, customer, product,</a:t>
            </a:r>
          </a:p>
          <a:p xmlns:a="http://schemas.openxmlformats.org/drawingml/2006/main">
            <a:pPr>
              <a:defRPr sz="18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territory and salesperson</a:t>
            </a:r>
          </a:p>
        </p:txBody>
      </p:sp>
      <p:sp>
        <p:nvSpPr>
          <p:cNvPr id="13" name="55 measures">
            <a:extLst xmlns:a="http://schemas.openxmlformats.org/drawingml/2006/main">
              <a:ext uri="{FF2B5EF4-FFF2-40B4-BE49-F238E27FC236}">
                <a16:creationId xmlns:a16="http://schemas.microsoft.com/office/drawing/2014/main" id="{7A174E28-8D1D-41EF-85F3-E385BEAD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43375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55 measures</a:t>
            </a:r>
          </a:p>
        </p:txBody>
      </p:sp>
      <p:sp>
        <p:nvSpPr>
          <p:cNvPr id="14" name="Reusable KPI definitions">
            <a:extLst xmlns:a="http://schemas.openxmlformats.org/drawingml/2006/main">
              <a:ext uri="{FF2B5EF4-FFF2-40B4-BE49-F238E27FC236}">
                <a16:creationId xmlns:a16="http://schemas.microsoft.com/office/drawing/2014/main" id="{6FF3F63D-842C-4D01-B49D-09ABB155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053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Reusable KPI definitions</a:t>
            </a:r>
          </a:p>
        </p:txBody>
      </p:sp>
    </p:spTree>
    <p:extLst>
      <p:ext uri="{BB962C8B-B14F-4D97-AF65-F5344CB8AC3E}">
        <p14:creationId xmlns:p14="http://schemas.microsoft.com/office/powerpoint/2010/main" val="99370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AMPLE DATA">
            <a:extLst xmlns:a="http://schemas.openxmlformats.org/drawingml/2006/main">
              <a:ext uri="{FF2B5EF4-FFF2-40B4-BE49-F238E27FC236}">
                <a16:creationId xmlns:a16="http://schemas.microsoft.com/office/drawing/2014/main" id="{B7D9A796-4A1E-4683-8174-0FDFD57B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SAMPLE DATA</a:t>
            </a:r>
          </a:p>
        </p:txBody>
      </p:sp>
      <p:sp>
        <p:nvSpPr>
          <p:cNvPr id="2" name="The analytical scope">
            <a:extLst xmlns:a="http://schemas.openxmlformats.org/drawingml/2006/main">
              <a:ext uri="{FF2B5EF4-FFF2-40B4-BE49-F238E27FC236}">
                <a16:creationId xmlns:a16="http://schemas.microsoft.com/office/drawing/2014/main" id="{12E4E3B0-C806-4833-A5AA-E7D89EDE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The analytical scope</a:t>
            </a:r>
          </a:p>
        </p:txBody>
      </p:sp>
      <p:sp>
        <p:nvSpPr>
          <p:cNvPr id="3" name="Camellia Pramanick">
            <a:extLst xmlns:a="http://schemas.openxmlformats.org/drawingml/2006/main">
              <a:ext uri="{FF2B5EF4-FFF2-40B4-BE49-F238E27FC236}">
                <a16:creationId xmlns:a16="http://schemas.microsoft.com/office/drawing/2014/main" id="{D3D9E571-681A-405C-875D-CBBDA88F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Camellia Pramanick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910033DC-BBC1-49FE-9B98-BE906F55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121,317">
            <a:extLst xmlns:a="http://schemas.openxmlformats.org/drawingml/2006/main">
              <a:ext uri="{FF2B5EF4-FFF2-40B4-BE49-F238E27FC236}">
                <a16:creationId xmlns:a16="http://schemas.microsoft.com/office/drawing/2014/main" id="{E1FF538E-05F2-4827-8501-BEF08480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121,317</a:t>
            </a:r>
          </a:p>
        </p:txBody>
      </p:sp>
      <p:sp>
        <p:nvSpPr>
          <p:cNvPr id="6" name="sales-detail rows">
            <a:extLst xmlns:a="http://schemas.openxmlformats.org/drawingml/2006/main">
              <a:ext uri="{FF2B5EF4-FFF2-40B4-BE49-F238E27FC236}">
                <a16:creationId xmlns:a16="http://schemas.microsoft.com/office/drawing/2014/main" id="{E9D1F2CB-9721-4AE7-B80D-426FF334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sales-detail rows</a:t>
            </a:r>
          </a:p>
        </p:txBody>
      </p:sp>
      <p:sp>
        <p:nvSpPr>
          <p:cNvPr id="7" name="31,465">
            <a:extLst xmlns:a="http://schemas.openxmlformats.org/drawingml/2006/main">
              <a:ext uri="{FF2B5EF4-FFF2-40B4-BE49-F238E27FC236}">
                <a16:creationId xmlns:a16="http://schemas.microsoft.com/office/drawing/2014/main" id="{88C8D81D-1438-4344-9A30-0B8CAE3F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31,465</a:t>
            </a:r>
          </a:p>
        </p:txBody>
      </p:sp>
      <p:sp>
        <p:nvSpPr>
          <p:cNvPr id="8" name="distinct orders">
            <a:extLst xmlns:a="http://schemas.openxmlformats.org/drawingml/2006/main">
              <a:ext uri="{FF2B5EF4-FFF2-40B4-BE49-F238E27FC236}">
                <a16:creationId xmlns:a16="http://schemas.microsoft.com/office/drawing/2014/main" id="{0C135471-6E96-48D8-86D3-2B81B619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051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distinct orders</a:t>
            </a:r>
          </a:p>
        </p:txBody>
      </p:sp>
      <p:sp>
        <p:nvSpPr>
          <p:cNvPr id="9" name="19,119">
            <a:extLst xmlns:a="http://schemas.openxmlformats.org/drawingml/2006/main">
              <a:ext uri="{FF2B5EF4-FFF2-40B4-BE49-F238E27FC236}">
                <a16:creationId xmlns:a16="http://schemas.microsoft.com/office/drawing/2014/main" id="{BDB211B9-36B0-47BA-8990-804DF2D9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19,119</a:t>
            </a:r>
          </a:p>
        </p:txBody>
      </p:sp>
      <p:sp>
        <p:nvSpPr>
          <p:cNvPr id="10" name="purchasing customers">
            <a:extLst xmlns:a="http://schemas.openxmlformats.org/drawingml/2006/main">
              <a:ext uri="{FF2B5EF4-FFF2-40B4-BE49-F238E27FC236}">
                <a16:creationId xmlns:a16="http://schemas.microsoft.com/office/drawing/2014/main" id="{995D7E32-1C5D-414B-88E7-1950A464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purchasing customers</a:t>
            </a:r>
          </a:p>
        </p:txBody>
      </p:sp>
      <p:sp>
        <p:nvSpPr>
          <p:cNvPr id="11" name="109.85M">
            <a:extLst xmlns:a="http://schemas.openxmlformats.org/drawingml/2006/main">
              <a:ext uri="{FF2B5EF4-FFF2-40B4-BE49-F238E27FC236}">
                <a16:creationId xmlns:a16="http://schemas.microsoft.com/office/drawing/2014/main" id="{B603A33D-B46D-498C-942B-9C44A311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5287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109.85M</a:t>
            </a:r>
          </a:p>
        </p:txBody>
      </p:sp>
      <p:sp>
        <p:nvSpPr>
          <p:cNvPr id="12" name="net sales in source monetary units">
            <a:extLst xmlns:a="http://schemas.openxmlformats.org/drawingml/2006/main">
              <a:ext uri="{FF2B5EF4-FFF2-40B4-BE49-F238E27FC236}">
                <a16:creationId xmlns:a16="http://schemas.microsoft.com/office/drawing/2014/main" id="{53D895E8-978A-4665-9A33-CCF2CAE8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101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net sales in source monetary units</a:t>
            </a:r>
          </a:p>
        </p:txBody>
      </p:sp>
      <p:sp>
        <p:nvSpPr>
          <p:cNvPr id="13" name="Reporting period: May 30, 2022 to June 29, 20">
            <a:extLst xmlns:a="http://schemas.openxmlformats.org/drawingml/2006/main">
              <a:ext uri="{FF2B5EF4-FFF2-40B4-BE49-F238E27FC236}">
                <a16:creationId xmlns:a16="http://schemas.microsoft.com/office/drawing/2014/main" id="{61FC745E-B927-4DD6-9EA7-572211BB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Reporting period: May 30, 2022 to June 29, 2025</a:t>
            </a:r>
          </a:p>
        </p:txBody>
      </p:sp>
    </p:spTree>
    <p:extLst>
      <p:ext uri="{BB962C8B-B14F-4D97-AF65-F5344CB8AC3E}">
        <p14:creationId xmlns:p14="http://schemas.microsoft.com/office/powerpoint/2010/main" val="17650895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NDING 01">
            <a:extLst xmlns:a="http://schemas.openxmlformats.org/drawingml/2006/main">
              <a:ext uri="{FF2B5EF4-FFF2-40B4-BE49-F238E27FC236}">
                <a16:creationId xmlns:a16="http://schemas.microsoft.com/office/drawing/2014/main" id="{115C7B37-213C-494E-AAC8-729B6A37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FINDING 01</a:t>
            </a:r>
          </a:p>
        </p:txBody>
      </p:sp>
      <p:sp>
        <p:nvSpPr>
          <p:cNvPr id="2" name="Channel revenue and margin diverged">
            <a:extLst xmlns:a="http://schemas.openxmlformats.org/drawingml/2006/main">
              <a:ext uri="{FF2B5EF4-FFF2-40B4-BE49-F238E27FC236}">
                <a16:creationId xmlns:a16="http://schemas.microsoft.com/office/drawing/2014/main" id="{C30A6579-BF88-4186-B026-949389B9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Channel revenue and margin diverged</a:t>
            </a:r>
          </a:p>
        </p:txBody>
      </p:sp>
      <p:sp>
        <p:nvSpPr>
          <p:cNvPr id="3" name="Camellia Pramanick">
            <a:extLst xmlns:a="http://schemas.openxmlformats.org/drawingml/2006/main">
              <a:ext uri="{FF2B5EF4-FFF2-40B4-BE49-F238E27FC236}">
                <a16:creationId xmlns:a16="http://schemas.microsoft.com/office/drawing/2014/main" id="{1A5E9477-7406-4836-9366-E7E7475D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Camellia Pramanick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6DAE9DDE-B248-427C-ACF3-344E9A52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Share of net sales">
            <a:extLst xmlns:a="http://schemas.openxmlformats.org/drawingml/2006/main">
              <a:ext uri="{FF2B5EF4-FFF2-40B4-BE49-F238E27FC236}">
                <a16:creationId xmlns:a16="http://schemas.microsoft.com/office/drawing/2014/main" id="{92F6BA8B-18BB-4F9D-BABA-08FE9E66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14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Share of net sales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351040B-4DA5-408C-AE85-F5A4FADD3B69}"/>
              </a:ext>
            </a:extLst>
          </p:cNvPr>
          <p:cNvGraphicFramePr/>
          <p:nvPr/>
        </p:nvGraphicFramePr>
        <p:xfrm>
          <a:off xmlns:a="http://schemas.openxmlformats.org/drawingml/2006/main" x="609600" y="2428875"/>
          <a:ext xmlns:a="http://schemas.openxmlformats.org/drawingml/2006/main" cx="514350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a9c204f08d4049"/>
          </a:graphicData>
        </a:graphic>
      </p:graphicFrame>
      <p:sp>
        <p:nvSpPr>
          <p:cNvPr id="7" name="Estimated standard-cost margin">
            <a:extLst xmlns:a="http://schemas.openxmlformats.org/drawingml/2006/main">
              <a:ext uri="{FF2B5EF4-FFF2-40B4-BE49-F238E27FC236}">
                <a16:creationId xmlns:a16="http://schemas.microsoft.com/office/drawing/2014/main" id="{8F064824-B4ED-44A7-BF81-7F85DB03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050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Estimated standard-cost margin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A9FAAA35-A585-4506-AA45-253A978EDDCD}"/>
              </a:ext>
            </a:extLst>
          </p:cNvPr>
          <p:cNvGraphicFramePr/>
          <p:nvPr/>
        </p:nvGraphicFramePr>
        <p:xfrm>
          <a:off xmlns:a="http://schemas.openxmlformats.org/drawingml/2006/main" x="6419850" y="2428875"/>
          <a:ext xmlns:a="http://schemas.openxmlformats.org/drawingml/2006/main" cx="514350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dfca73b5274a45"/>
          </a:graphicData>
        </a:graphic>
      </p:graphicFrame>
      <p:sp>
        <p:nvSpPr>
          <p:cNvPr id="9" name="Decision supported: review product mix, disco">
            <a:extLst xmlns:a="http://schemas.openxmlformats.org/drawingml/2006/main">
              <a:ext uri="{FF2B5EF4-FFF2-40B4-BE49-F238E27FC236}">
                <a16:creationId xmlns:a16="http://schemas.microsoft.com/office/drawing/2014/main" id="{A609C3B3-4267-4145-9E22-78020ACE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Decision supported: review product mix, discounts and cost assumptions before changing channel strategy.</a:t>
            </a:r>
          </a:p>
        </p:txBody>
      </p:sp>
    </p:spTree>
    <p:extLst>
      <p:ext uri="{BB962C8B-B14F-4D97-AF65-F5344CB8AC3E}">
        <p14:creationId xmlns:p14="http://schemas.microsoft.com/office/powerpoint/2010/main" val="1950051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NDING 02">
            <a:extLst xmlns:a="http://schemas.openxmlformats.org/drawingml/2006/main">
              <a:ext uri="{FF2B5EF4-FFF2-40B4-BE49-F238E27FC236}">
                <a16:creationId xmlns:a16="http://schemas.microsoft.com/office/drawing/2014/main" id="{220E8B6C-78F7-4250-A508-8D49BED2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FINDING 02</a:t>
            </a:r>
          </a:p>
        </p:txBody>
      </p:sp>
      <p:sp>
        <p:nvSpPr>
          <p:cNvPr id="2" name="Bikes accounted for 86.17% of sales">
            <a:extLst xmlns:a="http://schemas.openxmlformats.org/drawingml/2006/main">
              <a:ext uri="{FF2B5EF4-FFF2-40B4-BE49-F238E27FC236}">
                <a16:creationId xmlns:a16="http://schemas.microsoft.com/office/drawing/2014/main" id="{EA37FF17-DBAA-4BA7-80C6-43EB01DE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Bikes accounted for 86.17% of sales</a:t>
            </a:r>
          </a:p>
        </p:txBody>
      </p:sp>
      <p:sp>
        <p:nvSpPr>
          <p:cNvPr id="3" name="Camellia Pramanick">
            <a:extLst xmlns:a="http://schemas.openxmlformats.org/drawingml/2006/main">
              <a:ext uri="{FF2B5EF4-FFF2-40B4-BE49-F238E27FC236}">
                <a16:creationId xmlns:a16="http://schemas.microsoft.com/office/drawing/2014/main" id="{926BFA75-863C-4281-8095-D05B75A7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Camellia Pramanick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496853C9-E88D-46EA-9356-C190EC37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7961B80-3071-4092-9326-A6FE6570D3E0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7048500" cy="3571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52966071cd45f4"/>
          </a:graphicData>
        </a:graphic>
      </p:graphicFrame>
      <p:sp>
        <p:nvSpPr>
          <p:cNvPr id="6" name="Revenue concentration">
            <a:extLst xmlns:a="http://schemas.openxmlformats.org/drawingml/2006/main">
              <a:ext uri="{FF2B5EF4-FFF2-40B4-BE49-F238E27FC236}">
                <a16:creationId xmlns:a16="http://schemas.microsoft.com/office/drawing/2014/main" id="{3CADB879-CD2F-40FE-9BE4-76877E10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Revenue concentration</a:t>
            </a:r>
          </a:p>
        </p:txBody>
      </p:sp>
      <p:sp>
        <p:nvSpPr>
          <p:cNvPr id="7" name="The category mix made dependence on bikes vis">
            <a:extLst xmlns:a="http://schemas.openxmlformats.org/drawingml/2006/main">
              <a:ext uri="{FF2B5EF4-FFF2-40B4-BE49-F238E27FC236}">
                <a16:creationId xmlns:a16="http://schemas.microsoft.com/office/drawing/2014/main" id="{A3D3BABE-4EFD-41E2-A42B-907E54BD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90800"/>
            <a:ext cx="3333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The category mix made dependence on bikes visible and gave users a starting point for product analysis.</a:t>
            </a:r>
          </a:p>
        </p:txBody>
      </p:sp>
      <p:sp>
        <p:nvSpPr>
          <p:cNvPr id="8" name="A follow-up question">
            <a:extLst xmlns:a="http://schemas.openxmlformats.org/drawingml/2006/main">
              <a:ext uri="{FF2B5EF4-FFF2-40B4-BE49-F238E27FC236}">
                <a16:creationId xmlns:a16="http://schemas.microsoft.com/office/drawing/2014/main" id="{6F50A8D8-8FDD-440A-8CA9-0D952480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A follow-up question</a:t>
            </a:r>
          </a:p>
        </p:txBody>
      </p:sp>
      <p:sp>
        <p:nvSpPr>
          <p:cNvPr id="9" name="Accessories had a 49.87% estimated margin. Wo">
            <a:extLst xmlns:a="http://schemas.openxmlformats.org/drawingml/2006/main">
              <a:ext uri="{FF2B5EF4-FFF2-40B4-BE49-F238E27FC236}">
                <a16:creationId xmlns:a16="http://schemas.microsoft.com/office/drawing/2014/main" id="{12ABF43E-4385-4D2F-956F-B5880444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95800"/>
            <a:ext cx="3333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Accessories had a 49.87% estimated margin. Would a targeted cross-sell test be worthwhile?</a:t>
            </a:r>
          </a:p>
        </p:txBody>
      </p:sp>
    </p:spTree>
    <p:extLst>
      <p:ext uri="{BB962C8B-B14F-4D97-AF65-F5344CB8AC3E}">
        <p14:creationId xmlns:p14="http://schemas.microsoft.com/office/powerpoint/2010/main" val="1420932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USTOMER ANALYTICS">
            <a:extLst xmlns:a="http://schemas.openxmlformats.org/drawingml/2006/main">
              <a:ext uri="{FF2B5EF4-FFF2-40B4-BE49-F238E27FC236}">
                <a16:creationId xmlns:a16="http://schemas.microsoft.com/office/drawing/2014/main" id="{531DE9DB-54DA-4296-8233-5BF553FC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CUSTOMER ANALYTICS</a:t>
            </a:r>
          </a:p>
        </p:txBody>
      </p:sp>
      <p:sp>
        <p:nvSpPr>
          <p:cNvPr id="2" name="Purchasing activity needed a clear definition">
            <a:extLst xmlns:a="http://schemas.openxmlformats.org/drawingml/2006/main">
              <a:ext uri="{FF2B5EF4-FFF2-40B4-BE49-F238E27FC236}">
                <a16:creationId xmlns:a16="http://schemas.microsoft.com/office/drawing/2014/main" id="{BDAF938F-ED5B-48E8-80BE-F430398A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Purchasing activity needed a clear definition</a:t>
            </a:r>
          </a:p>
        </p:txBody>
      </p:sp>
      <p:sp>
        <p:nvSpPr>
          <p:cNvPr id="3" name="Camellia Pramanick">
            <a:extLst xmlns:a="http://schemas.openxmlformats.org/drawingml/2006/main">
              <a:ext uri="{FF2B5EF4-FFF2-40B4-BE49-F238E27FC236}">
                <a16:creationId xmlns:a16="http://schemas.microsoft.com/office/drawing/2014/main" id="{360C6D6E-2243-4689-89DE-F7343938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Camellia Pramanick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A1854C5D-6A0A-4513-9F02-6DB2BD24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5,111">
            <a:extLst xmlns:a="http://schemas.openxmlformats.org/drawingml/2006/main">
              <a:ext uri="{FF2B5EF4-FFF2-40B4-BE49-F238E27FC236}">
                <a16:creationId xmlns:a16="http://schemas.microsoft.com/office/drawing/2014/main" id="{0B4A0071-6FAC-4283-A5FB-1233DAF5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246E7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246E72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246E72"/>
                </a:solidFill>
                <a:latin typeface="Arial"/>
                <a:ea typeface="Arial"/>
                <a:cs typeface="Arial"/>
              </a:rPr>
              <a:t>5,111</a:t>
            </a:r>
          </a:p>
        </p:txBody>
      </p:sp>
      <p:sp>
        <p:nvSpPr>
          <p:cNvPr id="6" name="active within 90 days">
            <a:extLst xmlns:a="http://schemas.openxmlformats.org/drawingml/2006/main">
              <a:ext uri="{FF2B5EF4-FFF2-40B4-BE49-F238E27FC236}">
                <a16:creationId xmlns:a16="http://schemas.microsoft.com/office/drawing/2014/main" id="{2B0D2DB0-04F2-4CA4-BC9A-3E64DFED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active within 90 days</a:t>
            </a:r>
          </a:p>
        </p:txBody>
      </p:sp>
      <p:sp>
        <p:nvSpPr>
          <p:cNvPr id="7" name="14,008">
            <a:extLst xmlns:a="http://schemas.openxmlformats.org/drawingml/2006/main">
              <a:ext uri="{FF2B5EF4-FFF2-40B4-BE49-F238E27FC236}">
                <a16:creationId xmlns:a16="http://schemas.microsoft.com/office/drawing/2014/main" id="{5F03DB93-F36A-4ADD-A595-DDC3DB6B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14,008</a:t>
            </a:r>
          </a:p>
        </p:txBody>
      </p:sp>
      <p:sp>
        <p:nvSpPr>
          <p:cNvPr id="8" name="inactive for more than 90 days">
            <a:extLst xmlns:a="http://schemas.openxmlformats.org/drawingml/2006/main">
              <a:ext uri="{FF2B5EF4-FFF2-40B4-BE49-F238E27FC236}">
                <a16:creationId xmlns:a16="http://schemas.microsoft.com/office/drawing/2014/main" id="{CFEB2422-097E-44BC-8E76-F4EFF1F1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52750"/>
            <a:ext cx="5143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inactive for more than 90 days</a:t>
            </a:r>
          </a:p>
        </p:txBody>
      </p:sp>
      <p:sp>
        <p:nvSpPr>
          <p:cNvPr id="9" name="What the report enabled">
            <a:extLst xmlns:a="http://schemas.openxmlformats.org/drawingml/2006/main">
              <a:ext uri="{FF2B5EF4-FFF2-40B4-BE49-F238E27FC236}">
                <a16:creationId xmlns:a16="http://schemas.microsoft.com/office/drawing/2014/main" id="{EBE0A3F4-A17A-4E9E-B009-6ADCE692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What the report enabled</a:t>
            </a:r>
          </a:p>
        </p:txBody>
      </p:sp>
      <p:sp>
        <p:nvSpPr>
          <p:cNvPr id="10" name="Compared purchase recency with historical cus">
            <a:extLst xmlns:a="http://schemas.openxmlformats.org/drawingml/2006/main">
              <a:ext uri="{FF2B5EF4-FFF2-40B4-BE49-F238E27FC236}">
                <a16:creationId xmlns:a16="http://schemas.microsoft.com/office/drawing/2014/main" id="{C04C945F-AA93-43C2-94A7-103C2617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Compared purchase recency with historical customer value to prioritize accounts for further investigation.</a:t>
            </a:r>
          </a:p>
        </p:txBody>
      </p:sp>
      <p:sp>
        <p:nvSpPr>
          <p:cNvPr id="11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8DB4DEA1-D6FB-4A16-98C9-910D9040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100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2" name="Measured activity as of June 29, 2025. The 90">
            <a:extLst xmlns:a="http://schemas.openxmlformats.org/drawingml/2006/main">
              <a:ext uri="{FF2B5EF4-FFF2-40B4-BE49-F238E27FC236}">
                <a16:creationId xmlns:a16="http://schemas.microsoft.com/office/drawing/2014/main" id="{DACA3AA0-4827-4454-A378-BC8C60F0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0535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Measured activity as of June 29, 2025. The 90-day rule described recency, not a validated churn prediction.</a:t>
            </a:r>
          </a:p>
        </p:txBody>
      </p:sp>
    </p:spTree>
    <p:extLst>
      <p:ext uri="{BB962C8B-B14F-4D97-AF65-F5344CB8AC3E}">
        <p14:creationId xmlns:p14="http://schemas.microsoft.com/office/powerpoint/2010/main" val="6185500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PORT EXPERIENCE">
            <a:extLst xmlns:a="http://schemas.openxmlformats.org/drawingml/2006/main">
              <a:ext uri="{FF2B5EF4-FFF2-40B4-BE49-F238E27FC236}">
                <a16:creationId xmlns:a16="http://schemas.microsoft.com/office/drawing/2014/main" id="{ADB9BB9E-2CAF-4F55-97E0-E124DC16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REPORT EXPERIENCE</a:t>
            </a:r>
          </a:p>
        </p:txBody>
      </p:sp>
      <p:sp>
        <p:nvSpPr>
          <p:cNvPr id="2" name="Four report pages supported exploration">
            <a:extLst xmlns:a="http://schemas.openxmlformats.org/drawingml/2006/main">
              <a:ext uri="{FF2B5EF4-FFF2-40B4-BE49-F238E27FC236}">
                <a16:creationId xmlns:a16="http://schemas.microsoft.com/office/drawing/2014/main" id="{D5BCBA20-4BDC-4349-94DA-BED325D4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Four report pages supported exploration</a:t>
            </a:r>
          </a:p>
        </p:txBody>
      </p:sp>
      <p:sp>
        <p:nvSpPr>
          <p:cNvPr id="3" name="Camellia Pramanick">
            <a:extLst xmlns:a="http://schemas.openxmlformats.org/drawingml/2006/main">
              <a:ext uri="{FF2B5EF4-FFF2-40B4-BE49-F238E27FC236}">
                <a16:creationId xmlns:a16="http://schemas.microsoft.com/office/drawing/2014/main" id="{C719BA77-0C14-4534-9CA3-807543162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Camellia Pramanick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931FD1E4-6D85-4F98-9B26-C03402F3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E6060-CDCF-47CE-BA84-449ECFD783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2efb035b5f425b"/>
          <a:stretch xmlns:a="http://schemas.openxmlformats.org/drawingml/2006/main"/>
        </p:blipFill>
        <p:spPr>
          <a:xfrm xmlns:a="http://schemas.openxmlformats.org/drawingml/2006/main">
            <a:off x="609600" y="2087761"/>
            <a:ext cx="6191250" cy="3482578"/>
          </a:xfrm>
          <a:prstGeom xmlns:a="http://schemas.openxmlformats.org/drawingml/2006/main" prst="rect">
            <a:avLst/>
          </a:prstGeom>
        </p:spPr>
      </p:pic>
      <p:sp>
        <p:nvSpPr>
          <p:cNvPr id="6" name="Executive Overview&#10;Customer Analytics&#10;Product">
            <a:extLst xmlns:a="http://schemas.openxmlformats.org/drawingml/2006/main">
              <a:ext uri="{FF2B5EF4-FFF2-40B4-BE49-F238E27FC236}">
                <a16:creationId xmlns:a16="http://schemas.microsoft.com/office/drawing/2014/main" id="{BD5159FF-EDFD-47FC-AD33-CDE41277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95500"/>
            <a:ext cx="4333875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Executive Overview</a:t>
            </a:r>
          </a:p>
          <a:p xmlns:a="http://schemas.openxmlformats.org/drawingml/2006/main">
            <a:pPr>
              <a:defRPr sz="2175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Customer Analytics</a:t>
            </a:r>
          </a:p>
          <a:p xmlns:a="http://schemas.openxmlformats.org/drawingml/2006/main">
            <a:pPr>
              <a:defRPr sz="2175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Product Performance</a:t>
            </a:r>
          </a:p>
          <a:p xmlns:a="http://schemas.openxmlformats.org/drawingml/2006/main">
            <a:pPr>
              <a:defRPr sz="2175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Territory &amp; Sales Performance</a:t>
            </a:r>
          </a:p>
        </p:txBody>
      </p:sp>
      <p:sp>
        <p:nvSpPr>
          <p:cNvPr id="7" name="Shared filters, page navigation and metric de">
            <a:extLst xmlns:a="http://schemas.openxmlformats.org/drawingml/2006/main">
              <a:ext uri="{FF2B5EF4-FFF2-40B4-BE49-F238E27FC236}">
                <a16:creationId xmlns:a16="http://schemas.microsoft.com/office/drawing/2014/main" id="{940B5C4C-0124-475C-8CC4-9E66BC1A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4191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Shared filters, page navigation and metric definitions supported consistent exploration.</a:t>
            </a:r>
          </a:p>
        </p:txBody>
      </p:sp>
      <p:sp>
        <p:nvSpPr>
          <p:cNvPr id="8" name="Watch the report walkthrough">
            <a:extLst xmlns:a="http://schemas.openxmlformats.org/drawingml/2006/main">
              <a:ext uri="{FF2B5EF4-FFF2-40B4-BE49-F238E27FC236}">
                <a16:creationId xmlns:a16="http://schemas.microsoft.com/office/drawing/2014/main" id="{C0822D8D-38BF-4D64-BE3E-10E29B34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1650" u="sng">
                <a:solidFill>
                  <a:srgbClr val="426E8C"/>
                </a:solidFill>
                <a:latin typeface="Arial"/>
                <a:ea typeface="Arial"/>
                <a:cs typeface="Arial"/>
                <a:hlinkClick xmlns:r="http://schemas.openxmlformats.org/officeDocument/2006/relationships" r:id="R96983794f7d74dee"/>
              </a:rPr>
              <a:t>Watch the report walkthrough</a:t>
            </a:r>
          </a:p>
        </p:txBody>
      </p:sp>
    </p:spTree>
    <p:extLst>
      <p:ext uri="{BB962C8B-B14F-4D97-AF65-F5344CB8AC3E}">
        <p14:creationId xmlns:p14="http://schemas.microsoft.com/office/powerpoint/2010/main" val="6870522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QUALITY AND BUSINESS USE">
            <a:extLst xmlns:a="http://schemas.openxmlformats.org/drawingml/2006/main">
              <a:ext uri="{FF2B5EF4-FFF2-40B4-BE49-F238E27FC236}">
                <a16:creationId xmlns:a16="http://schemas.microsoft.com/office/drawing/2014/main" id="{D230B2E6-2D06-42BD-BC79-D3A7C346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QUALITY AND BUSINESS USE</a:t>
            </a:r>
          </a:p>
        </p:txBody>
      </p:sp>
      <p:sp>
        <p:nvSpPr>
          <p:cNvPr id="2" name="Reliable reporting required validation">
            <a:extLst xmlns:a="http://schemas.openxmlformats.org/drawingml/2006/main">
              <a:ext uri="{FF2B5EF4-FFF2-40B4-BE49-F238E27FC236}">
                <a16:creationId xmlns:a16="http://schemas.microsoft.com/office/drawing/2014/main" id="{737758B1-4EE2-4284-9BB1-3195E968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283D"/>
                </a:solidFill>
                <a:latin typeface="Arial"/>
                <a:ea typeface="Arial"/>
                <a:cs typeface="Arial"/>
              </a:rPr>
              <a:t>Reliable reporting required validation</a:t>
            </a:r>
          </a:p>
        </p:txBody>
      </p:sp>
      <p:sp>
        <p:nvSpPr>
          <p:cNvPr id="3" name="Camellia Pramanick">
            <a:extLst xmlns:a="http://schemas.openxmlformats.org/drawingml/2006/main">
              <a:ext uri="{FF2B5EF4-FFF2-40B4-BE49-F238E27FC236}">
                <a16:creationId xmlns:a16="http://schemas.microsoft.com/office/drawing/2014/main" id="{D1408C6F-6B06-4307-B5E8-85901BD5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Camellia Pramanick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DEAB55F2-FE16-412D-A026-1181C252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4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4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Data checks">
            <a:extLst xmlns:a="http://schemas.openxmlformats.org/drawingml/2006/main">
              <a:ext uri="{FF2B5EF4-FFF2-40B4-BE49-F238E27FC236}">
                <a16:creationId xmlns:a16="http://schemas.microsoft.com/office/drawing/2014/main" id="{5193008D-2B2D-4B2F-A883-645CBE8D0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Data checks</a:t>
            </a:r>
          </a:p>
        </p:txBody>
      </p:sp>
      <p:sp>
        <p:nvSpPr>
          <p:cNvPr id="6" name="Validated fact grain, dimension keys and rela">
            <a:extLst xmlns:a="http://schemas.openxmlformats.org/drawingml/2006/main">
              <a:ext uri="{FF2B5EF4-FFF2-40B4-BE49-F238E27FC236}">
                <a16:creationId xmlns:a16="http://schemas.microsoft.com/office/drawing/2014/main" id="{535D109D-6D90-4FBA-B764-7DBD203D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Validated fact grain, dimension keys and relationship coverage. The embedded data had no duplicate detail IDs or unmatched dimension keys.</a:t>
            </a:r>
          </a:p>
        </p:txBody>
      </p:sp>
      <p:sp>
        <p:nvSpPr>
          <p:cNvPr id="7" name="Important limits">
            <a:extLst xmlns:a="http://schemas.openxmlformats.org/drawingml/2006/main">
              <a:ext uri="{FF2B5EF4-FFF2-40B4-BE49-F238E27FC236}">
                <a16:creationId xmlns:a16="http://schemas.microsoft.com/office/drawing/2014/main" id="{9D2C41BA-C804-4A96-B5FA-7E078D0F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478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Important limits</a:t>
            </a:r>
          </a:p>
        </p:txBody>
      </p:sp>
      <p:sp>
        <p:nvSpPr>
          <p:cNvPr id="8" name="Profit used standard costs. Partial years req">
            <a:extLst xmlns:a="http://schemas.openxmlformats.org/drawingml/2006/main">
              <a:ext uri="{FF2B5EF4-FFF2-40B4-BE49-F238E27FC236}">
                <a16:creationId xmlns:a16="http://schemas.microsoft.com/office/drawing/2014/main" id="{8143A63B-AF63-488C-8BDD-BB640BEC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43175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Profit used standard costs. Partial years required comparable periods. Customer names were not unique account identifiers.</a:t>
            </a:r>
          </a:p>
        </p:txBody>
      </p:sp>
      <p:sp>
        <p:nvSpPr>
          <p:cNvPr id="9" name="Skills demonstrated">
            <a:extLst xmlns:a="http://schemas.openxmlformats.org/drawingml/2006/main">
              <a:ext uri="{FF2B5EF4-FFF2-40B4-BE49-F238E27FC236}">
                <a16:creationId xmlns:a16="http://schemas.microsoft.com/office/drawing/2014/main" id="{01CD334F-F67E-463F-9F55-86779B1E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Skills demonstrated</a:t>
            </a:r>
          </a:p>
        </p:txBody>
      </p:sp>
      <p:sp>
        <p:nvSpPr>
          <p:cNvPr id="10" name="T-SQL, dimensional modeling, Power Query, DAX">
            <a:extLst xmlns:a="http://schemas.openxmlformats.org/drawingml/2006/main">
              <a:ext uri="{FF2B5EF4-FFF2-40B4-BE49-F238E27FC236}">
                <a16:creationId xmlns:a16="http://schemas.microsoft.com/office/drawing/2014/main" id="{6EEA2840-94AE-4556-8FD9-ED72F5D1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T-SQL, dimensional modeling, Power Query, DAX filter context, KPI definitions and business interpretation.</a:t>
            </a:r>
          </a:p>
        </p:txBody>
      </p:sp>
      <p:sp>
        <p:nvSpPr>
          <p:cNvPr id="11" name="Business value">
            <a:extLst xmlns:a="http://schemas.openxmlformats.org/drawingml/2006/main">
              <a:ext uri="{FF2B5EF4-FFF2-40B4-BE49-F238E27FC236}">
                <a16:creationId xmlns:a16="http://schemas.microsoft.com/office/drawing/2014/main" id="{1FF6E495-E1D7-4D9D-81B7-D7559C64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426E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26E8C"/>
                </a:solidFill>
                <a:latin typeface="Arial"/>
                <a:ea typeface="Arial"/>
                <a:cs typeface="Arial"/>
              </a:rPr>
              <a:t>Business value</a:t>
            </a:r>
          </a:p>
        </p:txBody>
      </p:sp>
      <p:sp>
        <p:nvSpPr>
          <p:cNvPr id="12" name="Provided a consistent way to investigate sale">
            <a:extLst xmlns:a="http://schemas.openxmlformats.org/drawingml/2006/main">
              <a:ext uri="{FF2B5EF4-FFF2-40B4-BE49-F238E27FC236}">
                <a16:creationId xmlns:a16="http://schemas.microsoft.com/office/drawing/2014/main" id="{81C81C42-3A23-4975-8FC4-CA3FC8994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67250"/>
            <a:ext cx="5048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6283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283D"/>
                </a:solidFill>
                <a:latin typeface="Arial"/>
                <a:ea typeface="Arial"/>
                <a:cs typeface="Arial"/>
              </a:rPr>
              <a:t>Provided a consistent way to investigate sales concentration, customer activity and estimated profitability in sample data.</a:t>
            </a:r>
          </a:p>
        </p:txBody>
      </p:sp>
    </p:spTree>
    <p:extLst>
      <p:ext uri="{BB962C8B-B14F-4D97-AF65-F5344CB8AC3E}">
        <p14:creationId xmlns:p14="http://schemas.microsoft.com/office/powerpoint/2010/main" val="847350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2026-10-16T01:00:55.5570000Z</dcterms:created>
  <dcterms:modified xsi:type="dcterms:W3CDTF">2026-10-16T01:00:55.5580000Z</dcterms:modified>
</coreProperties>
</file>