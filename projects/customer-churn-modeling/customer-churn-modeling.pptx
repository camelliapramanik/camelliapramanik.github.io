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a50ef50e7e4dcf" /><Relationship Type="http://schemas.openxmlformats.org/officeDocument/2006/relationships/extended-properties" Target="/docProps/app.xml" Id="R10b1ccdea0df4002" /><Relationship Type="http://schemas.openxmlformats.org/officeDocument/2006/relationships/officeDocument" Target="/ppt/presentation.xml" Id="Rd33630abc085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21daa0f1e44be"/>
  </p:sldMasterIdLst>
  <p:notesMasterIdLst>
    <p:notesMasterId xmlns:r="http://schemas.openxmlformats.org/officeDocument/2006/relationships" r:id="R303c2e34bd06412c"/>
  </p:notesMasterIdLst>
  <p:sldIdLst>
    <p:sldId xmlns:r="http://schemas.openxmlformats.org/officeDocument/2006/relationships" id="256" r:id="Reef8e37c91af4263"/>
    <p:sldId xmlns:r="http://schemas.openxmlformats.org/officeDocument/2006/relationships" id="257" r:id="Re3fa6a2cc66046c9"/>
    <p:sldId xmlns:r="http://schemas.openxmlformats.org/officeDocument/2006/relationships" id="258" r:id="R488869a9909b4b16"/>
    <p:sldId xmlns:r="http://schemas.openxmlformats.org/officeDocument/2006/relationships" id="259" r:id="Ra1410f2b3cef44b6"/>
    <p:sldId xmlns:r="http://schemas.openxmlformats.org/officeDocument/2006/relationships" id="260" r:id="R98a43440ec974cbc"/>
    <p:sldId xmlns:r="http://schemas.openxmlformats.org/officeDocument/2006/relationships" id="261" r:id="R0b901230d3c84f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667df36c0d49e6" /><Relationship Type="http://schemas.openxmlformats.org/officeDocument/2006/relationships/slideMaster" Target="/ppt/slideMasters/slideMaster1.xml" Id="R24821daa0f1e44be" /><Relationship Type="http://schemas.openxmlformats.org/officeDocument/2006/relationships/notesMaster" Target="/ppt/notesMasters/notesMaster1.xml" Id="R303c2e34bd06412c" /><Relationship Type="http://schemas.openxmlformats.org/officeDocument/2006/relationships/presProps" Target="/ppt/presProps.xml" Id="Ref7b5d68021b4e16" /><Relationship Type="http://schemas.openxmlformats.org/officeDocument/2006/relationships/tableStyles" Target="/ppt/tableStyles.xml" Id="Ra4230e273303421d" /><Relationship Type="http://schemas.openxmlformats.org/officeDocument/2006/relationships/slide" Target="/ppt/slides/slide1.xml" Id="Reef8e37c91af4263" /><Relationship Type="http://schemas.openxmlformats.org/officeDocument/2006/relationships/slide" Target="/ppt/slides/slide2.xml" Id="Re3fa6a2cc66046c9" /><Relationship Type="http://schemas.openxmlformats.org/officeDocument/2006/relationships/slide" Target="/ppt/slides/slide3.xml" Id="R488869a9909b4b16" /><Relationship Type="http://schemas.openxmlformats.org/officeDocument/2006/relationships/slide" Target="/ppt/slides/slide4.xml" Id="Ra1410f2b3cef44b6" /><Relationship Type="http://schemas.openxmlformats.org/officeDocument/2006/relationships/slide" Target="/ppt/slides/slide5.xml" Id="R98a43440ec974cbc" /><Relationship Type="http://schemas.openxmlformats.org/officeDocument/2006/relationships/slide" Target="/ppt/slides/slide6.xml" Id="R0b901230d3c84f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c3f8a3dac48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4fab5e1c174a32" /><Relationship Type="http://schemas.openxmlformats.org/officeDocument/2006/relationships/notesMaster" Target="/ppt/notesMasters/notesMaster1.xml" Id="R78f66cbfc60847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c6491798004fdb" /><Relationship Type="http://schemas.openxmlformats.org/officeDocument/2006/relationships/notesMaster" Target="/ppt/notesMasters/notesMaster1.xml" Id="R6b05f9227e8143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0f1ae989954380" /><Relationship Type="http://schemas.openxmlformats.org/officeDocument/2006/relationships/notesMaster" Target="/ppt/notesMasters/notesMaster1.xml" Id="R4e0cd7a99b8a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edb5a44b824f14" /><Relationship Type="http://schemas.openxmlformats.org/officeDocument/2006/relationships/notesMaster" Target="/ppt/notesMasters/notesMaster1.xml" Id="Rfd352ae33b5344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366679f184f4a" /><Relationship Type="http://schemas.openxmlformats.org/officeDocument/2006/relationships/notesMaster" Target="/ppt/notesMasters/notesMaster1.xml" Id="Rcead2b836a7049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7d45de589844ef" /><Relationship Type="http://schemas.openxmlformats.org/officeDocument/2006/relationships/notesMaster" Target="/ppt/notesMasters/notesMaster1.xml" Id="Rf046ff426a8d4c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Camellia Pramanick, project description and clarification, October 15, 2026. Confirmed Kaggle dataset. Recalled RapidMiner machine-learning coursework. Dataset brand, model algorithms and numerical results are unverified.</a:t>
            </a:r>
          </a:p>
          <a:p xmlns:a="http://schemas.openxmlformats.org/drawingml/2006/main">
            <a:r>
              <a:t>This deck describes the confirmed project scope and an illustrative evaluation framework. It does not reproduce numerical experiment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Camellia Pramanick, project description and clarification, October 15, 2026. Confirmed Kaggle dataset. Recalled RapidMiner machine-learning coursework. Dataset brand, model algorithms and numerical results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Camellia Pramanick, project description and clarification, October 15, 2026. Confirmed Kaggle dataset. Recalled RapidMiner machine-learning coursework. Dataset brand, model algorithms and numerical results are unverified.</a:t>
            </a:r>
          </a:p>
          <a:p xmlns:a="http://schemas.openxmlformats.org/drawingml/2006/main">
            <a:r>
              <a:t>The high-level workflow matches the previously supplied project description. Detailed steps below explain sound practice, not a recovered RapidMiner process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Camellia Pramanick, project description and clarification, October 15, 2026. Confirmed Kaggle dataset. Recalled RapidMiner machine-learning coursework. Dataset brand, model algorithms and numerical results are unverified.</a:t>
            </a:r>
          </a:p>
          <a:p xmlns:a="http://schemas.openxmlformats.org/drawingml/2006/main">
            <a:r>
              <a:t>This slide is a proposed evaluation framework. Specific algorithms, train/test split and original scores have not been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Camellia Pramanick, project description and clarification, October 15, 2026. Confirmed Kaggle dataset. Recalled RapidMiner machine-learning coursework. Dataset brand, model algorithms and numerical results are unverified.</a:t>
            </a:r>
          </a:p>
          <a:p xmlns:a="http://schemas.openxmlformats.org/drawingml/2006/main">
            <a:r>
              <a:t>These are suggested decision uses, not claimed business outcomes. No causal retention effect or company deployment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Camellia Pramanick, project description and clarification, October 15, 2026. Confirmed Kaggle dataset. Recalled RapidMiner machine-learning coursework. Dataset brand, model algorithms and numerical results are unverified.</a:t>
            </a:r>
          </a:p>
          <a:p xmlns:a="http://schemas.openxmlformats.org/drawingml/2006/main">
            <a:r>
              <a:t>Kaggle is confirmed. Dataset identity, original RapidMiner process and result tables remain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ad6cf4bfe45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bccaea37847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41acba2bb42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5c93d91884d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6e2dc8be448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16db0d49d48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91EC67-57FB-49A0-B3D9-93EA7463C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CC9615-7130-4572-A9FB-4DF1CC1B4F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DD4308-6534-429A-B82A-32139FB2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E23AF9-F3AE-41EE-AE33-61FA22C031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616F98-872F-4A8C-AF1B-8170F415EB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ACB745-252A-4F62-815C-55A246B20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B8F95E-D69F-42EE-9BEA-E215D258AA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64C8FF-02BC-4532-B592-8BA105811B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00B8B3-BB92-4DF1-891C-25204917D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8FECA9-3ABA-4DB4-832A-A6587A017B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9a99e66854897" /><Relationship Type="http://schemas.openxmlformats.org/officeDocument/2006/relationships/slideLayout" Target="/ppt/slideLayouts/slideLayout1.xml" Id="R4b98fc1e8ab447f4" /><Relationship Type="http://schemas.openxmlformats.org/officeDocument/2006/relationships/slideLayout" Target="/ppt/slideLayouts/slideLayout2.xml" Id="R50155ea06e2e475f" /><Relationship Type="http://schemas.openxmlformats.org/officeDocument/2006/relationships/slideLayout" Target="/ppt/slideLayouts/slideLayout3.xml" Id="Rb56b6841054b46ed" /><Relationship Type="http://schemas.openxmlformats.org/officeDocument/2006/relationships/slideLayout" Target="/ppt/slideLayouts/slideLayout4.xml" Id="R5a7d7b45f6a34679" /><Relationship Type="http://schemas.openxmlformats.org/officeDocument/2006/relationships/slideLayout" Target="/ppt/slideLayouts/slideLayout5.xml" Id="Re140fa1280e54b00" /><Relationship Type="http://schemas.openxmlformats.org/officeDocument/2006/relationships/slideLayout" Target="/ppt/slideLayouts/slideLayout6.xml" Id="Rd547b2967ed248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8fc1e8ab447f4"/>
    <p:sldLayoutId xmlns:r="http://schemas.openxmlformats.org/officeDocument/2006/relationships" id="2147483650" r:id="R50155ea06e2e475f"/>
    <p:sldLayoutId xmlns:r="http://schemas.openxmlformats.org/officeDocument/2006/relationships" id="2147483651" r:id="Rb56b6841054b46ed"/>
    <p:sldLayoutId xmlns:r="http://schemas.openxmlformats.org/officeDocument/2006/relationships" id="2147483652" r:id="R5a7d7b45f6a34679"/>
    <p:sldLayoutId xmlns:r="http://schemas.openxmlformats.org/officeDocument/2006/relationships" id="2147483653" r:id="Re140fa1280e54b00"/>
    <p:sldLayoutId xmlns:r="http://schemas.openxmlformats.org/officeDocument/2006/relationships" id="2147483654" r:id="Rd547b2967ed248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ee1cb4ec847cf" /><Relationship Type="http://schemas.openxmlformats.org/officeDocument/2006/relationships/hyperlink" Target="https://camelliapramanik.github.io/" TargetMode="External" Id="Rcaaf3ebb832346a4" /><Relationship Type="http://schemas.openxmlformats.org/officeDocument/2006/relationships/notesSlide" Target="/ppt/notesSlides/notesSlide1.xml" Id="R23bcfac1e5a84e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105c67f004e43" /><Relationship Type="http://schemas.openxmlformats.org/officeDocument/2006/relationships/notesSlide" Target="/ppt/notesSlides/notesSlide2.xml" Id="R8067f16e03c142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5f30e2659441f" /><Relationship Type="http://schemas.openxmlformats.org/officeDocument/2006/relationships/notesSlide" Target="/ppt/notesSlides/notesSlide3.xml" Id="Re2cf41cf3dd34d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85375b0574e9b" /><Relationship Type="http://schemas.openxmlformats.org/officeDocument/2006/relationships/notesSlide" Target="/ppt/notesSlides/notesSlide4.xml" Id="Rfbad32e31c2a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efe33c5c74fd5" /><Relationship Type="http://schemas.openxmlformats.org/officeDocument/2006/relationships/notesSlide" Target="/ppt/notesSlides/notesSlide5.xml" Id="R31cf4604aad547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715a244484161" /><Relationship Type="http://schemas.openxmlformats.org/officeDocument/2006/relationships/hyperlink" Target="https://camelliapramanik.github.io/" TargetMode="External" Id="R1213917f20db44ad" /><Relationship Type="http://schemas.openxmlformats.org/officeDocument/2006/relationships/notesSlide" Target="/ppt/notesSlides/notesSlide6.xml" Id="Rd62d2aec06db4c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OJECT METHODOLOGY">
            <a:extLst xmlns:a="http://schemas.openxmlformats.org/drawingml/2006/main">
              <a:ext uri="{FF2B5EF4-FFF2-40B4-BE49-F238E27FC236}">
                <a16:creationId xmlns:a16="http://schemas.microsoft.com/office/drawing/2014/main" id="{D4A1BD90-2145-487B-B577-2DF0A972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A9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C4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4D5"/>
                </a:solidFill>
                <a:latin typeface="Arial"/>
                <a:ea typeface="Arial"/>
                <a:cs typeface="Arial"/>
              </a:rPr>
              <a:t>PROJECT METHODOLOGY</a:t>
            </a:r>
          </a:p>
        </p:txBody>
      </p:sp>
      <p:sp>
        <p:nvSpPr>
          <p:cNvPr id="2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3552B699-5074-4C9B-A781-8BFA45E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DDA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25828D3-4CFF-4022-92A0-CFAA967B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D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ustomer Churn&#10;Modeling">
            <a:extLst xmlns:a="http://schemas.openxmlformats.org/drawingml/2006/main">
              <a:ext uri="{FF2B5EF4-FFF2-40B4-BE49-F238E27FC236}">
                <a16:creationId xmlns:a16="http://schemas.microsoft.com/office/drawing/2014/main" id="{0C0D3ADA-2AF8-4C80-9576-041008F6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Churn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</a:t>
            </a:r>
          </a:p>
        </p:txBody>
      </p:sp>
      <p:sp>
        <p:nvSpPr>
          <p:cNvPr id="5" name="RapidMiner coursework using a Kaggle dataset">
            <a:extLst xmlns:a="http://schemas.openxmlformats.org/drawingml/2006/main">
              <a:ext uri="{FF2B5EF4-FFF2-40B4-BE49-F238E27FC236}">
                <a16:creationId xmlns:a16="http://schemas.microsoft.com/office/drawing/2014/main" id="{2E8CDFB4-E7F3-4098-B820-491A7D9B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CD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CD2D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CD2DF"/>
                </a:solidFill>
                <a:latin typeface="Arial"/>
                <a:ea typeface="Arial"/>
                <a:cs typeface="Arial"/>
              </a:rPr>
              <a:t>RapidMiner coursework using a Kaggle dataset</a:t>
            </a:r>
          </a:p>
        </p:txBody>
      </p:sp>
      <p:sp>
        <p:nvSpPr>
          <p:cNvPr id="6" name="camelliapramanik.github.io">
            <a:extLst xmlns:a="http://schemas.openxmlformats.org/drawingml/2006/main">
              <a:ext uri="{FF2B5EF4-FFF2-40B4-BE49-F238E27FC236}">
                <a16:creationId xmlns:a16="http://schemas.microsoft.com/office/drawing/2014/main" id="{1B217C74-71DF-4FD1-9472-D55C10AB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6E6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6E6F0"/>
                </a:solidFill>
                <a:latin typeface="Arial"/>
                <a:ea typeface="Arial"/>
                <a:cs typeface="Arial"/>
              </a:defRPr>
            </a:pPr>
            <a:r>
              <a:rPr sz="1725" u="sng">
                <a:solidFill>
                  <a:srgbClr val="D6E6F0"/>
                </a:solidFill>
                <a:latin typeface="Arial"/>
                <a:ea typeface="Arial"/>
                <a:cs typeface="Arial"/>
                <a:hlinkClick xmlns:r="http://schemas.openxmlformats.org/officeDocument/2006/relationships" r:id="Rcaaf3ebb832346a4"/>
              </a:rPr>
              <a:t>camelliapramanik.github.io</a:t>
            </a:r>
          </a:p>
        </p:txBody>
      </p:sp>
    </p:spTree>
    <p:extLst>
      <p:ext uri="{BB962C8B-B14F-4D97-AF65-F5344CB8AC3E}">
        <p14:creationId xmlns:p14="http://schemas.microsoft.com/office/powerpoint/2010/main" val="19409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USINESS QUESTION">
            <a:extLst xmlns:a="http://schemas.openxmlformats.org/drawingml/2006/main">
              <a:ext uri="{FF2B5EF4-FFF2-40B4-BE49-F238E27FC236}">
                <a16:creationId xmlns:a16="http://schemas.microsoft.com/office/drawing/2014/main" id="{CC13B60C-3756-475C-995C-4DF80CE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BUSINESS QUESTION</a:t>
            </a:r>
          </a:p>
        </p:txBody>
      </p:sp>
      <p:sp>
        <p:nvSpPr>
          <p:cNvPr id="2" name="Understanding customer departure">
            <a:extLst xmlns:a="http://schemas.openxmlformats.org/drawingml/2006/main">
              <a:ext uri="{FF2B5EF4-FFF2-40B4-BE49-F238E27FC236}">
                <a16:creationId xmlns:a16="http://schemas.microsoft.com/office/drawing/2014/main" id="{8A86E48C-FF2D-4DF3-B6B1-A14604B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Understanding customer departure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0D4E3F29-DC3C-40B5-A056-A90AFACE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4FE2F9DF-92EF-4863-8C0C-93283F9F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he question">
            <a:extLst xmlns:a="http://schemas.openxmlformats.org/drawingml/2006/main">
              <a:ext uri="{FF2B5EF4-FFF2-40B4-BE49-F238E27FC236}">
                <a16:creationId xmlns:a16="http://schemas.microsoft.com/office/drawing/2014/main" id="{FB887F25-DF53-4312-ACB3-D8A6AA97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6" name="Which customer patterns were associated with ">
            <a:extLst xmlns:a="http://schemas.openxmlformats.org/drawingml/2006/main">
              <a:ext uri="{FF2B5EF4-FFF2-40B4-BE49-F238E27FC236}">
                <a16:creationId xmlns:a16="http://schemas.microsoft.com/office/drawing/2014/main" id="{E56250F4-4C33-4340-ADDE-A40CCC5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Which customer patterns were associated with churn, and how could analysis inform retention decisions?</a:t>
            </a:r>
          </a:p>
        </p:txBody>
      </p:sp>
      <p:sp>
        <p:nvSpPr>
          <p:cNvPr id="7" name="The coursework">
            <a:extLst xmlns:a="http://schemas.openxmlformats.org/drawingml/2006/main">
              <a:ext uri="{FF2B5EF4-FFF2-40B4-BE49-F238E27FC236}">
                <a16:creationId xmlns:a16="http://schemas.microsoft.com/office/drawing/2014/main" id="{AFABD9F8-2D60-48B8-BC54-4E49FF9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The coursework</a:t>
            </a:r>
          </a:p>
        </p:txBody>
      </p:sp>
      <p:sp>
        <p:nvSpPr>
          <p:cNvPr id="8" name="Used a Kaggle dataset in a machine-learning c">
            <a:extLst xmlns:a="http://schemas.openxmlformats.org/drawingml/2006/main">
              <a:ext uri="{FF2B5EF4-FFF2-40B4-BE49-F238E27FC236}">
                <a16:creationId xmlns:a16="http://schemas.microsoft.com/office/drawing/2014/main" id="{70507381-2A56-429F-8068-7CE0C17B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Used a Kaggle dataset in a machine-learning coursework project, recalled as a RapidMiner workflow.</a:t>
            </a:r>
          </a:p>
        </p:txBody>
      </p:sp>
      <p:sp>
        <p:nvSpPr>
          <p:cNvPr id="9" name="Project scope">
            <a:extLst xmlns:a="http://schemas.openxmlformats.org/drawingml/2006/main">
              <a:ext uri="{FF2B5EF4-FFF2-40B4-BE49-F238E27FC236}">
                <a16:creationId xmlns:a16="http://schemas.microsoft.com/office/drawing/2014/main" id="{4F22D367-E55D-4890-BE82-5A1D94DE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10" name="Prepared data, explored relevant features and">
            <a:extLst xmlns:a="http://schemas.openxmlformats.org/drawingml/2006/main">
              <a:ext uri="{FF2B5EF4-FFF2-40B4-BE49-F238E27FC236}">
                <a16:creationId xmlns:a16="http://schemas.microsoft.com/office/drawing/2014/main" id="{DD8E5B72-206A-4204-8E5E-4A48713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Prepared data, explored relevant features and evaluated predictive models to study churn patterns.</a:t>
            </a:r>
          </a:p>
        </p:txBody>
      </p:sp>
      <p:sp>
        <p:nvSpPr>
          <p:cNvPr id="11" name="Evidence boundary">
            <a:extLst xmlns:a="http://schemas.openxmlformats.org/drawingml/2006/main">
              <a:ext uri="{FF2B5EF4-FFF2-40B4-BE49-F238E27FC236}">
                <a16:creationId xmlns:a16="http://schemas.microsoft.com/office/drawing/2014/main" id="{1DD50FD3-E9F4-4472-8D3F-DA6514F7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2" name="This presentation explains the approach. It d">
            <a:extLst xmlns:a="http://schemas.openxmlformats.org/drawingml/2006/main">
              <a:ext uri="{FF2B5EF4-FFF2-40B4-BE49-F238E27FC236}">
                <a16:creationId xmlns:a16="http://schemas.microsoft.com/office/drawing/2014/main" id="{4077165B-F704-4C41-8BB6-CA102C47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This presentation explains the approach. It does not report a verified model ranking, accuracy score or retention uplift.</a:t>
            </a:r>
          </a:p>
        </p:txBody>
      </p:sp>
    </p:spTree>
    <p:extLst>
      <p:ext uri="{BB962C8B-B14F-4D97-AF65-F5344CB8AC3E}">
        <p14:creationId xmlns:p14="http://schemas.microsoft.com/office/powerpoint/2010/main" val="535340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OJECT APPROACH">
            <a:extLst xmlns:a="http://schemas.openxmlformats.org/drawingml/2006/main">
              <a:ext uri="{FF2B5EF4-FFF2-40B4-BE49-F238E27FC236}">
                <a16:creationId xmlns:a16="http://schemas.microsoft.com/office/drawing/2014/main" id="{08EA1F7A-74EC-43DD-A7CE-9112018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PROJECT APPROACH</a:t>
            </a:r>
          </a:p>
        </p:txBody>
      </p:sp>
      <p:sp>
        <p:nvSpPr>
          <p:cNvPr id="2" name="Data preparation and feature analysis">
            <a:extLst xmlns:a="http://schemas.openxmlformats.org/drawingml/2006/main">
              <a:ext uri="{FF2B5EF4-FFF2-40B4-BE49-F238E27FC236}">
                <a16:creationId xmlns:a16="http://schemas.microsoft.com/office/drawing/2014/main" id="{F0E2E6D3-22AE-4C84-883A-EE25D5C3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Data preparation and feature analysis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4514D97C-9760-47D2-8C26-9351AA4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6BE5A4B0-6FB8-4FD0-85BA-28038ED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B403AA2-5292-4CCC-B0B2-2FAC5C66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Understand the churn label">
            <a:extLst xmlns:a="http://schemas.openxmlformats.org/drawingml/2006/main">
              <a:ext uri="{FF2B5EF4-FFF2-40B4-BE49-F238E27FC236}">
                <a16:creationId xmlns:a16="http://schemas.microsoft.com/office/drawing/2014/main" id="{DA067A5A-1F36-441B-B6E9-A9F3830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859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Understand the churn label</a:t>
            </a:r>
          </a:p>
        </p:txBody>
      </p:sp>
      <p:sp>
        <p:nvSpPr>
          <p:cNvPr id="7" name="Clarify what counts as leaving and when that ">
            <a:extLst xmlns:a="http://schemas.openxmlformats.org/drawingml/2006/main">
              <a:ext uri="{FF2B5EF4-FFF2-40B4-BE49-F238E27FC236}">
                <a16:creationId xmlns:a16="http://schemas.microsoft.com/office/drawing/2014/main" id="{BFC04931-8D39-45BE-8E67-38290F8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Clarify what counts as leaving and when that outcome becomes known.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FD8A09FE-6799-4FC3-84D9-4FCCB564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repare consistent inputs">
            <a:extLst xmlns:a="http://schemas.openxmlformats.org/drawingml/2006/main">
              <a:ext uri="{FF2B5EF4-FFF2-40B4-BE49-F238E27FC236}">
                <a16:creationId xmlns:a16="http://schemas.microsoft.com/office/drawing/2014/main" id="{63B4D3E7-8061-4880-816A-3ACEC14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Prepare consistent inputs</a:t>
            </a:r>
          </a:p>
        </p:txBody>
      </p:sp>
      <p:sp>
        <p:nvSpPr>
          <p:cNvPr id="10" name="Review missing values, data types and duplica">
            <a:extLst xmlns:a="http://schemas.openxmlformats.org/drawingml/2006/main">
              <a:ext uri="{FF2B5EF4-FFF2-40B4-BE49-F238E27FC236}">
                <a16:creationId xmlns:a16="http://schemas.microsoft.com/office/drawing/2014/main" id="{7EF6245F-7823-49AC-B996-91AC565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9572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Review missing values, data types and duplicates before model comparison.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FFE9AC4F-3106-4D12-BCCF-206F4F4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lore candidate predictors">
            <a:extLst xmlns:a="http://schemas.openxmlformats.org/drawingml/2006/main">
              <a:ext uri="{FF2B5EF4-FFF2-40B4-BE49-F238E27FC236}">
                <a16:creationId xmlns:a16="http://schemas.microsoft.com/office/drawing/2014/main" id="{4F60F10D-EF3D-49F2-9035-74FC29EA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Explore candidate predictors</a:t>
            </a:r>
          </a:p>
        </p:txBody>
      </p:sp>
      <p:sp>
        <p:nvSpPr>
          <p:cNvPr id="13" name="Examine relationships with churn and exclude ">
            <a:extLst xmlns:a="http://schemas.openxmlformats.org/drawingml/2006/main">
              <a:ext uri="{FF2B5EF4-FFF2-40B4-BE49-F238E27FC236}">
                <a16:creationId xmlns:a16="http://schemas.microsoft.com/office/drawing/2014/main" id="{F5040DC3-1621-40E9-A4EB-D9266E4F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Examine relationships with churn and exclude information revealed after departure.</a:t>
            </a:r>
          </a:p>
        </p:txBody>
      </p:sp>
    </p:spTree>
    <p:extLst>
      <p:ext uri="{BB962C8B-B14F-4D97-AF65-F5344CB8AC3E}">
        <p14:creationId xmlns:p14="http://schemas.microsoft.com/office/powerpoint/2010/main" val="1933996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LLUSTRATIVE EVALUATION FRAMEWORK">
            <a:extLst xmlns:a="http://schemas.openxmlformats.org/drawingml/2006/main">
              <a:ext uri="{FF2B5EF4-FFF2-40B4-BE49-F238E27FC236}">
                <a16:creationId xmlns:a16="http://schemas.microsoft.com/office/drawing/2014/main" id="{7323CF83-64E5-4B8F-9A4B-38C41EA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ILLUSTRATIVE EVALUATION FRAMEWORK</a:t>
            </a:r>
          </a:p>
        </p:txBody>
      </p:sp>
      <p:sp>
        <p:nvSpPr>
          <p:cNvPr id="2" name="A framework for comparing models">
            <a:extLst xmlns:a="http://schemas.openxmlformats.org/drawingml/2006/main">
              <a:ext uri="{FF2B5EF4-FFF2-40B4-BE49-F238E27FC236}">
                <a16:creationId xmlns:a16="http://schemas.microsoft.com/office/drawing/2014/main" id="{90061F9E-5BB7-4694-8ADA-0668215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A framework for comparing models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65DD4C94-E21D-4FC9-AA6A-396FA8EC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5757A3E1-BE4A-480D-AE16-6A1F7302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Baseline comparison">
            <a:extLst xmlns:a="http://schemas.openxmlformats.org/drawingml/2006/main">
              <a:ext uri="{FF2B5EF4-FFF2-40B4-BE49-F238E27FC236}">
                <a16:creationId xmlns:a16="http://schemas.microsoft.com/office/drawing/2014/main" id="{12F48069-24CE-4541-A28A-32DD8EA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Baseline comparison</a:t>
            </a:r>
          </a:p>
        </p:txBody>
      </p:sp>
      <p:sp>
        <p:nvSpPr>
          <p:cNvPr id="6" name="Compare candidate models with a simple baseli">
            <a:extLst xmlns:a="http://schemas.openxmlformats.org/drawingml/2006/main">
              <a:ext uri="{FF2B5EF4-FFF2-40B4-BE49-F238E27FC236}">
                <a16:creationId xmlns:a16="http://schemas.microsoft.com/office/drawing/2014/main" id="{9055E91A-4C22-4368-9D29-CAA73F9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Compare candidate models with a simple baseline to determine whether added complexity improves prediction.</a:t>
            </a:r>
          </a:p>
        </p:txBody>
      </p:sp>
      <p:sp>
        <p:nvSpPr>
          <p:cNvPr id="7" name="Held-out evaluation">
            <a:extLst xmlns:a="http://schemas.openxmlformats.org/drawingml/2006/main">
              <a:ext uri="{FF2B5EF4-FFF2-40B4-BE49-F238E27FC236}">
                <a16:creationId xmlns:a16="http://schemas.microsoft.com/office/drawing/2014/main" id="{3C3B9AC8-29F1-46E9-B53E-507E291F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Held-out evaluation</a:t>
            </a:r>
          </a:p>
        </p:txBody>
      </p:sp>
      <p:sp>
        <p:nvSpPr>
          <p:cNvPr id="8" name="Separate model development from evaluation. K">
            <a:extLst xmlns:a="http://schemas.openxmlformats.org/drawingml/2006/main">
              <a:ext uri="{FF2B5EF4-FFF2-40B4-BE49-F238E27FC236}">
                <a16:creationId xmlns:a16="http://schemas.microsoft.com/office/drawing/2014/main" id="{A00418F8-C314-4DC6-B538-603365F1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Separate model development from evaluation. Keep preprocessing inside the training workflow to reduce leakage.</a:t>
            </a:r>
          </a:p>
        </p:txBody>
      </p:sp>
      <p:sp>
        <p:nvSpPr>
          <p:cNvPr id="9" name="Useful metrics">
            <a:extLst xmlns:a="http://schemas.openxmlformats.org/drawingml/2006/main">
              <a:ext uri="{FF2B5EF4-FFF2-40B4-BE49-F238E27FC236}">
                <a16:creationId xmlns:a16="http://schemas.microsoft.com/office/drawing/2014/main" id="{55C4BA9A-ACD6-4DAC-A275-33C72E96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Useful metrics</a:t>
            </a:r>
          </a:p>
        </p:txBody>
      </p:sp>
      <p:sp>
        <p:nvSpPr>
          <p:cNvPr id="10" name="Review precision, recall and F1 alongside cla">
            <a:extLst xmlns:a="http://schemas.openxmlformats.org/drawingml/2006/main">
              <a:ext uri="{FF2B5EF4-FFF2-40B4-BE49-F238E27FC236}">
                <a16:creationId xmlns:a16="http://schemas.microsoft.com/office/drawing/2014/main" id="{AB5E5D8C-244A-450B-BFD9-EE7D0FE4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Review precision, recall and F1 alongside class balance. Accuracy alone can hide missed churners.</a:t>
            </a:r>
          </a:p>
        </p:txBody>
      </p:sp>
      <p:sp>
        <p:nvSpPr>
          <p:cNvPr id="11" name="Error review">
            <a:extLst xmlns:a="http://schemas.openxmlformats.org/drawingml/2006/main">
              <a:ext uri="{FF2B5EF4-FFF2-40B4-BE49-F238E27FC236}">
                <a16:creationId xmlns:a16="http://schemas.microsoft.com/office/drawing/2014/main" id="{39061600-8519-468C-8ADB-8017B6E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Error review</a:t>
            </a:r>
          </a:p>
        </p:txBody>
      </p:sp>
      <p:sp>
        <p:nvSpPr>
          <p:cNvPr id="12" name="Examine both missed churners and false alarms">
            <a:extLst xmlns:a="http://schemas.openxmlformats.org/drawingml/2006/main">
              <a:ext uri="{FF2B5EF4-FFF2-40B4-BE49-F238E27FC236}">
                <a16:creationId xmlns:a16="http://schemas.microsoft.com/office/drawing/2014/main" id="{E86E00F4-D72D-4C32-9718-651DFCE8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Examine both missed churners and false alarms, then relate those errors to the cost of customer outreach.</a:t>
            </a:r>
          </a:p>
        </p:txBody>
      </p:sp>
    </p:spTree>
    <p:extLst>
      <p:ext uri="{BB962C8B-B14F-4D97-AF65-F5344CB8AC3E}">
        <p14:creationId xmlns:p14="http://schemas.microsoft.com/office/powerpoint/2010/main" val="1040382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LLUSTRATIVE BUSINESS INTERPRETATION">
            <a:extLst xmlns:a="http://schemas.openxmlformats.org/drawingml/2006/main">
              <a:ext uri="{FF2B5EF4-FFF2-40B4-BE49-F238E27FC236}">
                <a16:creationId xmlns:a16="http://schemas.microsoft.com/office/drawing/2014/main" id="{0494FC1D-47E2-443D-9CAF-48863BE4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ILLUSTRATIVE BUSINESS INTERPRETATION</a:t>
            </a:r>
          </a:p>
        </p:txBody>
      </p:sp>
      <p:sp>
        <p:nvSpPr>
          <p:cNvPr id="2" name="Prediction should support a retention decisio">
            <a:extLst xmlns:a="http://schemas.openxmlformats.org/drawingml/2006/main">
              <a:ext uri="{FF2B5EF4-FFF2-40B4-BE49-F238E27FC236}">
                <a16:creationId xmlns:a16="http://schemas.microsoft.com/office/drawing/2014/main" id="{9F7C0081-D96D-4695-BD65-E8C2001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Prediction should support a retention decision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0A35CA90-D69D-45B7-923B-CCC1749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28085F14-42F8-409C-8682-24DB342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Prioritize review">
            <a:extLst xmlns:a="http://schemas.openxmlformats.org/drawingml/2006/main">
              <a:ext uri="{FF2B5EF4-FFF2-40B4-BE49-F238E27FC236}">
                <a16:creationId xmlns:a16="http://schemas.microsoft.com/office/drawing/2014/main" id="{090DBE78-1677-4505-852C-96E964CF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Prioritize review</a:t>
            </a:r>
          </a:p>
        </p:txBody>
      </p:sp>
      <p:sp>
        <p:nvSpPr>
          <p:cNvPr id="6" name="Use risk estimates to identify accounts for f">
            <a:extLst xmlns:a="http://schemas.openxmlformats.org/drawingml/2006/main">
              <a:ext uri="{FF2B5EF4-FFF2-40B4-BE49-F238E27FC236}">
                <a16:creationId xmlns:a16="http://schemas.microsoft.com/office/drawing/2014/main" id="{5880CAD3-B46A-415F-AD3F-2257B6FC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Use risk estimates to identify accounts for further review when outreach capacity is limited.</a:t>
            </a:r>
          </a:p>
        </p:txBody>
      </p:sp>
      <p:sp>
        <p:nvSpPr>
          <p:cNvPr id="7" name="Explain the pattern">
            <a:extLst xmlns:a="http://schemas.openxmlformats.org/drawingml/2006/main">
              <a:ext uri="{FF2B5EF4-FFF2-40B4-BE49-F238E27FC236}">
                <a16:creationId xmlns:a16="http://schemas.microsoft.com/office/drawing/2014/main" id="{C2E9C0CC-5283-4020-8420-9C70E13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Explain the pattern</a:t>
            </a:r>
          </a:p>
        </p:txBody>
      </p:sp>
      <p:sp>
        <p:nvSpPr>
          <p:cNvPr id="8" name="Connect model signals to understandable custo">
            <a:extLst xmlns:a="http://schemas.openxmlformats.org/drawingml/2006/main">
              <a:ext uri="{FF2B5EF4-FFF2-40B4-BE49-F238E27FC236}">
                <a16:creationId xmlns:a16="http://schemas.microsoft.com/office/drawing/2014/main" id="{E320346F-17C2-4030-95F2-C90A604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Connect model signals to understandable customer behavior and check whether the pattern is stable.</a:t>
            </a:r>
          </a:p>
        </p:txBody>
      </p:sp>
      <p:sp>
        <p:nvSpPr>
          <p:cNvPr id="9" name="Test an intervention">
            <a:extLst xmlns:a="http://schemas.openxmlformats.org/drawingml/2006/main">
              <a:ext uri="{FF2B5EF4-FFF2-40B4-BE49-F238E27FC236}">
                <a16:creationId xmlns:a16="http://schemas.microsoft.com/office/drawing/2014/main" id="{A96B43D4-656B-4CB1-A7A5-69AF40A4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Test an intervention</a:t>
            </a:r>
          </a:p>
        </p:txBody>
      </p:sp>
      <p:sp>
        <p:nvSpPr>
          <p:cNvPr id="10" name="Evaluate whether an outreach action changes o">
            <a:extLst xmlns:a="http://schemas.openxmlformats.org/drawingml/2006/main">
              <a:ext uri="{FF2B5EF4-FFF2-40B4-BE49-F238E27FC236}">
                <a16:creationId xmlns:a16="http://schemas.microsoft.com/office/drawing/2014/main" id="{94C10C7E-059E-4880-BB82-3CA84D89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Evaluate whether an outreach action changes outcomes before claiming that the model reduced churn.</a:t>
            </a:r>
          </a:p>
        </p:txBody>
      </p:sp>
      <p:sp>
        <p:nvSpPr>
          <p:cNvPr id="11" name="Monitor over time">
            <a:extLst xmlns:a="http://schemas.openxmlformats.org/drawingml/2006/main">
              <a:ext uri="{FF2B5EF4-FFF2-40B4-BE49-F238E27FC236}">
                <a16:creationId xmlns:a16="http://schemas.microsoft.com/office/drawing/2014/main" id="{CD39F869-651E-4538-99F8-E6CD92A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Monitor over time</a:t>
            </a:r>
          </a:p>
        </p:txBody>
      </p:sp>
      <p:sp>
        <p:nvSpPr>
          <p:cNvPr id="12" name="Track performance as customer behavior and pr">
            <a:extLst xmlns:a="http://schemas.openxmlformats.org/drawingml/2006/main">
              <a:ext uri="{FF2B5EF4-FFF2-40B4-BE49-F238E27FC236}">
                <a16:creationId xmlns:a16="http://schemas.microsoft.com/office/drawing/2014/main" id="{AC70753A-982B-4F55-8807-7DBF6BA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Track performance as customer behavior and product offerings change.</a:t>
            </a:r>
          </a:p>
        </p:txBody>
      </p:sp>
    </p:spTree>
    <p:extLst>
      <p:ext uri="{BB962C8B-B14F-4D97-AF65-F5344CB8AC3E}">
        <p14:creationId xmlns:p14="http://schemas.microsoft.com/office/powerpoint/2010/main" val="396365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ROJECT SUMMARY">
            <a:extLst xmlns:a="http://schemas.openxmlformats.org/drawingml/2006/main">
              <a:ext uri="{FF2B5EF4-FFF2-40B4-BE49-F238E27FC236}">
                <a16:creationId xmlns:a16="http://schemas.microsoft.com/office/drawing/2014/main" id="{C03DF0B9-FAB7-44A6-843A-6C771DE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PROJECT SUMMARY</a:t>
            </a:r>
          </a:p>
        </p:txBody>
      </p:sp>
      <p:sp>
        <p:nvSpPr>
          <p:cNvPr id="2" name="Analytical skills from the coursework">
            <a:extLst xmlns:a="http://schemas.openxmlformats.org/drawingml/2006/main">
              <a:ext uri="{FF2B5EF4-FFF2-40B4-BE49-F238E27FC236}">
                <a16:creationId xmlns:a16="http://schemas.microsoft.com/office/drawing/2014/main" id="{3CBC9D88-3DE2-48ED-97F1-26E4D6A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Analytical skills from the coursework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FA4F4CAE-492D-415A-B87C-12D1929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A64FC0DC-0CAA-4BC5-B875-9606F61F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Data preparation&#10;Feature analysis&#10;Predictive ">
            <a:extLst xmlns:a="http://schemas.openxmlformats.org/drawingml/2006/main">
              <a:ext uri="{FF2B5EF4-FFF2-40B4-BE49-F238E27FC236}">
                <a16:creationId xmlns:a16="http://schemas.microsoft.com/office/drawing/2014/main" id="{5F9E2CD7-E2B5-4BCB-90A1-9BFA8F46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619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Data preparation</a:t>
            </a:r>
          </a:p>
          <a:p xmlns:a="http://schemas.openxmlformats.org/drawingml/2006/main">
            <a:pPr>
              <a:defRPr sz="27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Feature analysis</a:t>
            </a:r>
          </a:p>
          <a:p xmlns:a="http://schemas.openxmlformats.org/drawingml/2006/main">
            <a:pPr>
              <a:defRPr sz="27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Predictive model evaluation</a:t>
            </a:r>
          </a:p>
          <a:p xmlns:a="http://schemas.openxmlformats.org/drawingml/2006/main">
            <a:pPr>
              <a:defRPr sz="27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Business interpretation</a:t>
            </a:r>
          </a:p>
        </p:txBody>
      </p:sp>
      <p:sp>
        <p:nvSpPr>
          <p:cNvPr id="6" name="A customer analytics project focused on under">
            <a:extLst xmlns:a="http://schemas.openxmlformats.org/drawingml/2006/main">
              <a:ext uri="{FF2B5EF4-FFF2-40B4-BE49-F238E27FC236}">
                <a16:creationId xmlns:a16="http://schemas.microsoft.com/office/drawing/2014/main" id="{EF55E3CE-D7BB-4B8F-AFC9-8659275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A customer analytics project focused on understanding churn through machine learning.</a:t>
            </a:r>
          </a:p>
        </p:txBody>
      </p:sp>
      <p:sp>
        <p:nvSpPr>
          <p:cNvPr id="7" name="Dataset source: Kaggle&#10;Tool recalled: RapidMi">
            <a:extLst xmlns:a="http://schemas.openxmlformats.org/drawingml/2006/main">
              <a:ext uri="{FF2B5EF4-FFF2-40B4-BE49-F238E27FC236}">
                <a16:creationId xmlns:a16="http://schemas.microsoft.com/office/drawing/2014/main" id="{8EA93D29-6696-45DD-9669-F57CEABF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Dataset source: Kaggle</a:t>
            </a:r>
          </a:p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Tool recalled: RapidMiner</a:t>
            </a:r>
          </a:p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Context: academic coursework</a:t>
            </a:r>
          </a:p>
        </p:txBody>
      </p:sp>
      <p:sp>
        <p:nvSpPr>
          <p:cNvPr id="8" name="Explore my portfolio">
            <a:extLst xmlns:a="http://schemas.openxmlformats.org/drawingml/2006/main">
              <a:ext uri="{FF2B5EF4-FFF2-40B4-BE49-F238E27FC236}">
                <a16:creationId xmlns:a16="http://schemas.microsoft.com/office/drawing/2014/main" id="{B68485C2-6BA3-4B99-A94E-0F920D38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800" u="sng">
                <a:solidFill>
                  <a:srgbClr val="426E8C"/>
                </a:solidFill>
                <a:latin typeface="Arial"/>
                <a:ea typeface="Arial"/>
                <a:cs typeface="Arial"/>
                <a:hlinkClick xmlns:r="http://schemas.openxmlformats.org/officeDocument/2006/relationships" r:id="R1213917f20db44ad"/>
              </a:rPr>
              <a:t>Explore my portfolio</a:t>
            </a:r>
          </a:p>
        </p:txBody>
      </p:sp>
    </p:spTree>
    <p:extLst>
      <p:ext uri="{BB962C8B-B14F-4D97-AF65-F5344CB8AC3E}">
        <p14:creationId xmlns:p14="http://schemas.microsoft.com/office/powerpoint/2010/main" val="1645079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2026-10-16T00:58:04.3180000Z</dcterms:created>
  <dcterms:modified xsi:type="dcterms:W3CDTF">2026-10-16T00:58:04.3180000Z</dcterms:modified>
</coreProperties>
</file>